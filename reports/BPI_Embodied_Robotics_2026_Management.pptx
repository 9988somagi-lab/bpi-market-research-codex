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安装量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254</c:v>
                </c:pt>
                <c:pt idx="1">
                  <c:v>304</c:v>
                </c:pt>
                <c:pt idx="2">
                  <c:v>400</c:v>
                </c:pt>
                <c:pt idx="3">
                  <c:v>423</c:v>
                </c:pt>
                <c:pt idx="4">
                  <c:v>387</c:v>
                </c:pt>
                <c:pt idx="5">
                  <c:v>390</c:v>
                </c:pt>
                <c:pt idx="6">
                  <c:v>526</c:v>
                </c:pt>
                <c:pt idx="7">
                  <c:v>553</c:v>
                </c:pt>
                <c:pt idx="8">
                  <c:v>541</c:v>
                </c:pt>
                <c:pt idx="9">
                  <c:v>542</c:v>
                </c:pt>
                <c:pt idx="10">
                  <c:v>603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安装/预测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dPt>
            <c:idx val="0"/>
            <c:spPr>
              <a:solidFill>
                <a:srgbClr val="007F86"/>
              </a:solidFill>
            </c:spPr>
          </c:dPt>
          <c:dPt>
            <c:idx val="1"/>
            <c:spPr>
              <a:solidFill>
                <a:srgbClr val="007F86"/>
              </a:solidFill>
            </c:spPr>
          </c:dPt>
          <c:dPt>
            <c:idx val="2"/>
            <c:spPr>
              <a:solidFill>
                <a:srgbClr val="007F86"/>
              </a:solidFill>
            </c:spPr>
          </c:dPt>
          <c:dPt>
            <c:idx val="3"/>
            <c:spPr>
              <a:solidFill>
                <a:srgbClr val="007F86"/>
              </a:solidFill>
            </c:spPr>
          </c:dPt>
          <c:dPt>
            <c:idx val="4"/>
            <c:spPr>
              <a:solidFill>
                <a:srgbClr val="007F86"/>
              </a:solidFill>
            </c:spPr>
          </c:dPt>
          <c:dPt>
            <c:idx val="5"/>
            <c:spPr>
              <a:solidFill>
                <a:srgbClr val="007F86"/>
              </a:solidFill>
            </c:spPr>
          </c:dPt>
          <c:dPt>
            <c:idx val="6"/>
            <c:spPr>
              <a:solidFill>
                <a:srgbClr val="617484"/>
              </a:solidFill>
            </c:spPr>
          </c:dPt>
          <c:dPt>
            <c:idx val="7"/>
            <c:spPr>
              <a:solidFill>
                <a:srgbClr val="617484"/>
              </a:solidFill>
            </c:spPr>
          </c:dPt>
          <c:dPt>
            <c:idx val="8"/>
            <c:spPr>
              <a:solidFill>
                <a:srgbClr val="617484"/>
              </a:solidFill>
            </c:spPr>
          </c:dPt>
          <c:dPt>
            <c:idx val="9"/>
            <c:spPr>
              <a:solidFill>
                <a:srgbClr val="617484"/>
              </a:solidFill>
            </c:spPr>
          </c:dPt>
          <c:cat>
            <c:strRef>
              <c:f>Sheet1!$A$2:$A$11</c:f>
              <c:strCache>
                <c:ptCount val="10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2026F</c:v>
                </c:pt>
                <c:pt idx="7">
                  <c:v>2027F</c:v>
                </c:pt>
                <c:pt idx="8">
                  <c:v>2028F</c:v>
                </c:pt>
                <c:pt idx="9">
                  <c:v>2029F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390</c:v>
                </c:pt>
                <c:pt idx="1">
                  <c:v>526</c:v>
                </c:pt>
                <c:pt idx="2">
                  <c:v>553</c:v>
                </c:pt>
                <c:pt idx="3">
                  <c:v>541</c:v>
                </c:pt>
                <c:pt idx="4">
                  <c:v>542</c:v>
                </c:pt>
                <c:pt idx="5">
                  <c:v>603</c:v>
                </c:pt>
                <c:pt idx="6">
                  <c:v>655</c:v>
                </c:pt>
                <c:pt idx="7">
                  <c:v>711</c:v>
                </c:pt>
                <c:pt idx="8">
                  <c:v>744</c:v>
                </c:pt>
                <c:pt idx="9">
                  <c:v>806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亚洲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384</c:v>
                </c:pt>
                <c:pt idx="1">
                  <c:v>404</c:v>
                </c:pt>
                <c:pt idx="2">
                  <c:v>381</c:v>
                </c:pt>
                <c:pt idx="3">
                  <c:v>401</c:v>
                </c:pt>
                <c:pt idx="4">
                  <c:v>457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欧洲</c:v>
                </c:pt>
              </c:strCache>
            </c:strRef>
          </c:tx>
          <c:spPr>
            <a:solidFill>
              <a:srgbClr val="168BC1"/>
            </a:solidFill>
            <a:ln>
              <a:solidFill>
                <a:srgbClr val="168BC1"/>
              </a:solidFill>
            </a:ln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</c:v>
                </c:pt>
                <c:pt idx="1">
                  <c:v>85</c:v>
                </c:pt>
                <c:pt idx="2">
                  <c:v>92</c:v>
                </c:pt>
                <c:pt idx="3">
                  <c:v>85</c:v>
                </c:pt>
                <c:pt idx="4">
                  <c:v>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美洲</c:v>
                </c:pt>
              </c:strCache>
            </c:strRef>
          </c:tx>
          <c:spPr>
            <a:solidFill>
              <a:srgbClr val="D49A30"/>
            </a:solidFill>
            <a:ln>
              <a:solidFill>
                <a:srgbClr val="D49A30"/>
              </a:solidFill>
            </a:ln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52</c:v>
                </c:pt>
                <c:pt idx="1">
                  <c:v>56</c:v>
                </c:pt>
                <c:pt idx="2">
                  <c:v>55</c:v>
                </c:pt>
                <c:pt idx="3">
                  <c:v>50</c:v>
                </c:pt>
                <c:pt idx="4">
                  <c:v>57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区域份额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dPt>
            <c:idx val="0"/>
            <c:spPr>
              <a:solidFill>
                <a:srgbClr val="007F86"/>
              </a:solidFill>
            </c:spPr>
          </c:dPt>
          <c:dPt>
            <c:idx val="1"/>
            <c:spPr>
              <a:solidFill>
                <a:srgbClr val="168BC1"/>
              </a:solidFill>
            </c:spPr>
          </c:dPt>
          <c:dPt>
            <c:idx val="2"/>
            <c:spPr>
              <a:solidFill>
                <a:srgbClr val="D49A30"/>
              </a:solidFill>
            </c:spPr>
          </c:dPt>
          <c:dPt>
            <c:idx val="3"/>
            <c:spPr>
              <a:solidFill>
                <a:srgbClr val="617484"/>
              </a:solidFill>
            </c:spPr>
          </c:dPt>
          <c:cat>
            <c:strRef>
              <c:f>Sheet1!$A$2:$A$5</c:f>
              <c:strCache>
                <c:ptCount val="4"/>
                <c:pt idx="0">
                  <c:v>亚洲</c:v>
                </c:pt>
                <c:pt idx="1">
                  <c:v>欧洲</c:v>
                </c:pt>
                <c:pt idx="2">
                  <c:v>美洲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</c:v>
                </c:pt>
                <c:pt idx="1">
                  <c:v>12</c:v>
                </c:pt>
                <c:pt idx="2">
                  <c:v>9</c:v>
                </c:pt>
                <c:pt idx="3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latin typeface="Microsoft YaHei"/>
                </a:defRPr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txPr>
        <a:bodyPr/>
        <a:lstStyle/>
        <a:p>
          <a:pPr>
            <a:defRPr sz="12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2025安装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Sheet1!$A$2:$A$10</c:f>
              <c:strCache>
                <c:ptCount val="9"/>
                <c:pt idx="0">
                  <c:v>美国</c:v>
                </c:pt>
                <c:pt idx="1">
                  <c:v>日本</c:v>
                </c:pt>
                <c:pt idx="2">
                  <c:v>韩国</c:v>
                </c:pt>
                <c:pt idx="3">
                  <c:v>德国</c:v>
                </c:pt>
                <c:pt idx="4">
                  <c:v>印度</c:v>
                </c:pt>
                <c:pt idx="5">
                  <c:v>意大利</c:v>
                </c:pt>
                <c:pt idx="6">
                  <c:v>中国台湾</c:v>
                </c:pt>
                <c:pt idx="7">
                  <c:v>墨西哥</c:v>
                </c:pt>
                <c:pt idx="8">
                  <c:v>新加坡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38.4</c:v>
                </c:pt>
                <c:pt idx="1">
                  <c:v>36.2</c:v>
                </c:pt>
                <c:pt idx="2">
                  <c:v>30.2</c:v>
                </c:pt>
                <c:pt idx="3">
                  <c:v>24.8</c:v>
                </c:pt>
                <c:pt idx="4">
                  <c:v>10.5</c:v>
                </c:pt>
                <c:pt idx="5">
                  <c:v>7.8</c:v>
                </c:pt>
                <c:pt idx="6">
                  <c:v>5.7</c:v>
                </c:pt>
                <c:pt idx="7">
                  <c:v>5.2</c:v>
                </c:pt>
                <c:pt idx="8">
                  <c:v>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b"/>
        <c:majorGridlines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增长幅度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Sheet1!$A$2:$A$7</c:f>
              <c:strCache>
                <c:ptCount val="6"/>
                <c:pt idx="0">
                  <c:v>美国 +12%</c:v>
                </c:pt>
                <c:pt idx="1">
                  <c:v>日本 −19%</c:v>
                </c:pt>
                <c:pt idx="2">
                  <c:v>韩国 −1%</c:v>
                </c:pt>
                <c:pt idx="3">
                  <c:v>德国 −8%</c:v>
                </c:pt>
                <c:pt idx="4">
                  <c:v>印度 +15%</c:v>
                </c:pt>
                <c:pt idx="5">
                  <c:v>新加坡 +26%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下降幅度</c:v>
                </c:pt>
              </c:strCache>
            </c:strRef>
          </c:tx>
          <c:spPr>
            <a:solidFill>
              <a:srgbClr val="C55353"/>
            </a:solidFill>
            <a:ln>
              <a:solidFill>
                <a:srgbClr val="C55353"/>
              </a:solidFill>
            </a:ln>
          </c:spPr>
          <c:cat>
            <c:strRef>
              <c:f>Sheet1!$A$2:$A$7</c:f>
              <c:strCache>
                <c:ptCount val="6"/>
                <c:pt idx="0">
                  <c:v>美国 +12%</c:v>
                </c:pt>
                <c:pt idx="1">
                  <c:v>日本 −19%</c:v>
                </c:pt>
                <c:pt idx="2">
                  <c:v>韩国 −1%</c:v>
                </c:pt>
                <c:pt idx="3">
                  <c:v>德国 −8%</c:v>
                </c:pt>
                <c:pt idx="4">
                  <c:v>印度 +15%</c:v>
                </c:pt>
                <c:pt idx="5">
                  <c:v>新加坡 +26%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19</c:v>
                </c:pt>
                <c:pt idx="2">
                  <c:v>1</c:v>
                </c:pt>
                <c:pt idx="3">
                  <c:v>8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b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Sheet1!$A$2:$A$6</c:f>
              <c:strCache>
                <c:ptCount val="5"/>
                <c:pt idx="0">
                  <c:v>美国</c:v>
                </c:pt>
                <c:pt idx="1">
                  <c:v>日本</c:v>
                </c:pt>
                <c:pt idx="2">
                  <c:v>韩国</c:v>
                </c:pt>
                <c:pt idx="3">
                  <c:v>德国</c:v>
                </c:pt>
                <c:pt idx="4">
                  <c:v>印度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34.2</c:v>
                </c:pt>
                <c:pt idx="1">
                  <c:v>44.5</c:v>
                </c:pt>
                <c:pt idx="2">
                  <c:v>30.6</c:v>
                </c:pt>
                <c:pt idx="3">
                  <c:v>26.982</c:v>
                </c:pt>
                <c:pt idx="4">
                  <c:v>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68BC1"/>
            </a:solidFill>
            <a:ln>
              <a:solidFill>
                <a:srgbClr val="168BC1"/>
              </a:solidFill>
            </a:ln>
          </c:spPr>
          <c:cat>
            <c:strRef>
              <c:f>Sheet1!$A$2:$A$6</c:f>
              <c:strCache>
                <c:ptCount val="5"/>
                <c:pt idx="0">
                  <c:v>美国</c:v>
                </c:pt>
                <c:pt idx="1">
                  <c:v>日本</c:v>
                </c:pt>
                <c:pt idx="2">
                  <c:v>韩国</c:v>
                </c:pt>
                <c:pt idx="3">
                  <c:v>德国</c:v>
                </c:pt>
                <c:pt idx="4">
                  <c:v>印度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38.4</c:v>
                </c:pt>
                <c:pt idx="1">
                  <c:v>36.2</c:v>
                </c:pt>
                <c:pt idx="2">
                  <c:v>30.2</c:v>
                </c:pt>
                <c:pt idx="3">
                  <c:v>24.8</c:v>
                </c:pt>
                <c:pt idx="4">
                  <c:v>10.5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  <c:min val="0.0"/>
        </c:scaling>
        <c:delete val="0"/>
        <c:axPos val="l"/>
        <c:majorGridlines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样本销量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Sheet1!$A$2:$A$7</c:f>
              <c:strCache>
                <c:ptCount val="6"/>
                <c:pt idx="0">
                  <c:v>运输物流</c:v>
                </c:pt>
                <c:pt idx="1">
                  <c:v>酒店/接待</c:v>
                </c:pt>
                <c:pt idx="2">
                  <c:v>专业清洁</c:v>
                </c:pt>
                <c:pt idx="3">
                  <c:v>农业</c:v>
                </c:pt>
                <c:pt idx="4">
                  <c:v>检查维护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117488</c:v>
                </c:pt>
                <c:pt idx="1">
                  <c:v>55941</c:v>
                </c:pt>
                <c:pt idx="2">
                  <c:v>44644</c:v>
                </c:pt>
                <c:pt idx="3">
                  <c:v>17141</c:v>
                </c:pt>
                <c:pt idx="4">
                  <c:v>6467</c:v>
                </c:pt>
                <c:pt idx="5">
                  <c:v>7887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0.0"/>
          <c:min val="0.0"/>
        </c:scaling>
        <c:delete val="0"/>
        <c:axPos val="b"/>
        <c:majorGridlines/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同比增速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Sheet1!$A$2:$A$6</c:f>
              <c:strCache>
                <c:ptCount val="5"/>
                <c:pt idx="0">
                  <c:v>检查维护</c:v>
                </c:pt>
                <c:pt idx="1">
                  <c:v>专业清洁</c:v>
                </c:pt>
                <c:pt idx="2">
                  <c:v>运输物流</c:v>
                </c:pt>
                <c:pt idx="3">
                  <c:v>酒店/接待</c:v>
                </c:pt>
                <c:pt idx="4">
                  <c:v>农业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</c:v>
                </c:pt>
                <c:pt idx="1">
                  <c:v>40</c:v>
                </c:pt>
                <c:pt idx="2">
                  <c:v>21</c:v>
                </c:pt>
                <c:pt idx="3">
                  <c:v>19</c:v>
                </c:pt>
                <c:pt idx="4">
                  <c:v>19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numFmt formatCode="0&quot;%&quot;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反推增量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Sheet1!$A$2:$A$6</c:f>
              <c:strCache>
                <c:ptCount val="5"/>
                <c:pt idx="0">
                  <c:v>运输物流</c:v>
                </c:pt>
                <c:pt idx="1">
                  <c:v>专业清洁</c:v>
                </c:pt>
                <c:pt idx="2">
                  <c:v>酒店/接待</c:v>
                </c:pt>
                <c:pt idx="3">
                  <c:v>检查维护</c:v>
                </c:pt>
                <c:pt idx="4">
                  <c:v>农业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20390</c:v>
                </c:pt>
                <c:pt idx="1">
                  <c:v>12755</c:v>
                </c:pt>
                <c:pt idx="2">
                  <c:v>8932</c:v>
                </c:pt>
                <c:pt idx="3">
                  <c:v>2933</c:v>
                </c:pt>
                <c:pt idx="4">
                  <c:v>2737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00.0"/>
          <c:min val="0.0"/>
        </c:scaling>
        <c:delete val="0"/>
        <c:axPos val="b"/>
        <c:majorGridlines/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应用份额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dPt>
            <c:idx val="0"/>
            <c:spPr>
              <a:solidFill>
                <a:srgbClr val="007F86"/>
              </a:solidFill>
            </c:spPr>
          </c:dPt>
          <c:dPt>
            <c:idx val="1"/>
            <c:spPr>
              <a:solidFill>
                <a:srgbClr val="168BC1"/>
              </a:solidFill>
            </c:spPr>
          </c:dPt>
          <c:dPt>
            <c:idx val="2"/>
            <c:spPr>
              <a:solidFill>
                <a:srgbClr val="D49A30"/>
              </a:solidFill>
            </c:spPr>
          </c:dPt>
          <c:dPt>
            <c:idx val="3"/>
            <c:spPr>
              <a:solidFill>
                <a:srgbClr val="617484"/>
              </a:solidFill>
            </c:spPr>
          </c:dPt>
          <c:dPt>
            <c:idx val="4"/>
            <c:spPr>
              <a:solidFill>
                <a:srgbClr val="C55353"/>
              </a:solidFill>
            </c:spPr>
          </c:dPt>
          <c:dPt>
            <c:idx val="5"/>
            <c:spPr>
              <a:solidFill>
                <a:srgbClr val="102D43"/>
              </a:solidFill>
            </c:spPr>
          </c:dPt>
          <c:cat>
            <c:strRef>
              <c:f>Sheet1!$A$2:$A$7</c:f>
              <c:strCache>
                <c:ptCount val="6"/>
                <c:pt idx="0">
                  <c:v>运输物流</c:v>
                </c:pt>
                <c:pt idx="1">
                  <c:v>酒店/接待</c:v>
                </c:pt>
                <c:pt idx="2">
                  <c:v>专业清洁</c:v>
                </c:pt>
                <c:pt idx="3">
                  <c:v>农业</c:v>
                </c:pt>
                <c:pt idx="4">
                  <c:v>检查维护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</c:v>
                </c:pt>
                <c:pt idx="1">
                  <c:v>22</c:v>
                </c:pt>
                <c:pt idx="2">
                  <c:v>18</c:v>
                </c:pt>
                <c:pt idx="3">
                  <c:v>7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latin typeface="Microsoft YaHei"/>
                </a:defRPr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txPr>
        <a:bodyPr/>
        <a:lstStyle/>
        <a:p>
          <a:pPr>
            <a:defRPr sz="12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运输物流</c:v>
                </c:pt>
              </c:strCache>
            </c:strRef>
          </c:tx>
          <c:spPr>
            <a:ln w="47625">
              <a:noFill/>
            </a:ln>
          </c:spPr>
          <c:marker>
            <c:size val="14"/>
          </c:marker>
          <c:xVal>
            <c:numRef>
              <c:f>Sheet1!$A$2:$A$2</c:f>
              <c:numCache>
                <c:formatCode>General</c:formatCode>
                <c:ptCount val="1"/>
                <c:pt idx="0">
                  <c:v>117.488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21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酒店/接待</c:v>
                </c:pt>
              </c:strCache>
            </c:strRef>
          </c:tx>
          <c:spPr>
            <a:ln w="47625">
              <a:noFill/>
            </a:ln>
          </c:spPr>
          <c:marker>
            <c:size val="14"/>
          </c:marker>
          <c:xVal>
            <c:numRef>
              <c:f>Sheet1!$A$5:$A$5</c:f>
              <c:numCache>
                <c:formatCode>General</c:formatCode>
                <c:ptCount val="1"/>
                <c:pt idx="0">
                  <c:v>55.941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19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专业清洁</c:v>
                </c:pt>
              </c:strCache>
            </c:strRef>
          </c:tx>
          <c:spPr>
            <a:ln w="47625">
              <a:noFill/>
            </a:ln>
          </c:spPr>
          <c:marker>
            <c:size val="14"/>
          </c:marker>
          <c:xVal>
            <c:numRef>
              <c:f>Sheet1!$A$8:$A$8</c:f>
              <c:numCache>
                <c:formatCode>General</c:formatCode>
                <c:ptCount val="1"/>
                <c:pt idx="0">
                  <c:v>44.644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40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农业</c:v>
                </c:pt>
              </c:strCache>
            </c:strRef>
          </c:tx>
          <c:spPr>
            <a:ln w="47625">
              <a:noFill/>
            </a:ln>
          </c:spPr>
          <c:marker>
            <c:size val="14"/>
          </c:marker>
          <c:xVal>
            <c:numRef>
              <c:f>Sheet1!$A$11:$A$11</c:f>
              <c:numCache>
                <c:formatCode>General</c:formatCode>
                <c:ptCount val="1"/>
                <c:pt idx="0">
                  <c:v>17.141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19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Sheet1!$B$13</c:f>
              <c:strCache>
                <c:ptCount val="1"/>
                <c:pt idx="0">
                  <c:v>检查维护</c:v>
                </c:pt>
              </c:strCache>
            </c:strRef>
          </c:tx>
          <c:spPr>
            <a:ln w="47625">
              <a:noFill/>
            </a:ln>
          </c:spPr>
          <c:marker>
            <c:size val="14"/>
          </c:marker>
          <c:xVal>
            <c:numRef>
              <c:f>Sheet1!$A$14:$A$14</c:f>
              <c:numCache>
                <c:formatCode>General</c:formatCode>
                <c:ptCount val="1"/>
                <c:pt idx="0">
                  <c:v>6.467</c:v>
                </c:pt>
              </c:numCache>
            </c:numRef>
          </c:xVal>
          <c:yVal>
            <c:numRef>
              <c:f>Sheet1!$B$14:$B$14</c:f>
              <c:numCache>
                <c:formatCode>General</c:formatCode>
                <c:ptCount val="1"/>
                <c:pt idx="0">
                  <c:v>83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4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.0"/>
          <c:min val="0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预测TAM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Sheet1!$A$2:$A$3</c:f>
              <c:strCache>
                <c:ptCount val="2"/>
                <c:pt idx="0">
                  <c:v>此前2035预测</c:v>
                </c:pt>
                <c:pt idx="1">
                  <c:v>2024更新的2035预测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38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中国本土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</c:v>
                </c:pt>
                <c:pt idx="1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外资</c:v>
                </c:pt>
              </c:strCache>
            </c:strRef>
          </c:tx>
          <c:spPr>
            <a:solidFill>
              <a:srgbClr val="168BC1"/>
            </a:solidFill>
            <a:ln>
              <a:solidFill>
                <a:srgbClr val="168BC1"/>
              </a:solidFill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43</c:v>
                </c:pt>
                <c:pt idx="1">
                  <c:v>45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numFmt formatCode="0&quot;%&quot;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容量/Ah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Sheet1!$A$2:$A$5</c:f>
              <c:strCache>
                <c:ptCount val="4"/>
                <c:pt idx="0">
                  <c:v>G1</c:v>
                </c:pt>
                <c:pt idx="1">
                  <c:v>Go2 标准</c:v>
                </c:pt>
                <c:pt idx="2">
                  <c:v>Go2 长续航</c:v>
                </c:pt>
                <c:pt idx="3">
                  <c:v>B2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15</c:v>
                </c:pt>
                <c:pt idx="3">
                  <c:v>45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公开能量/Wh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Sheet1!$A$2:$A$3</c:f>
              <c:strCache>
                <c:ptCount val="2"/>
                <c:pt idx="0">
                  <c:v>Spot</c:v>
                </c:pt>
                <c:pt idx="1">
                  <c:v>Unitree B2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600</c:v>
                </c:pt>
                <c:pt idx="1">
                  <c:v>2250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00.0"/>
          <c:min val="0.0"/>
        </c:scaling>
        <c:delete val="0"/>
        <c:axPos val="l"/>
        <c:majorGridlines/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出口额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Sheet1!$A$2:$A$9</c:f>
              <c:strCache>
                <c:ptCount val="8"/>
                <c:pt idx="0">
                  <c:v>日本</c:v>
                </c:pt>
                <c:pt idx="1">
                  <c:v>中国</c:v>
                </c:pt>
                <c:pt idx="2">
                  <c:v>德国</c:v>
                </c:pt>
                <c:pt idx="3">
                  <c:v>意大利</c:v>
                </c:pt>
                <c:pt idx="4">
                  <c:v>美国</c:v>
                </c:pt>
                <c:pt idx="5">
                  <c:v>丹麦</c:v>
                </c:pt>
                <c:pt idx="6">
                  <c:v>瑞典</c:v>
                </c:pt>
                <c:pt idx="7">
                  <c:v>法国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1789.4839884609999</c:v>
                </c:pt>
                <c:pt idx="1">
                  <c:v>824.087164</c:v>
                </c:pt>
                <c:pt idx="2">
                  <c:v>638.742327005</c:v>
                </c:pt>
                <c:pt idx="3">
                  <c:v>429.597010505</c:v>
                </c:pt>
                <c:pt idx="4">
                  <c:v>337.098931</c:v>
                </c:pt>
                <c:pt idx="5">
                  <c:v>334.381208104</c:v>
                </c:pt>
                <c:pt idx="6">
                  <c:v>295.190897779</c:v>
                </c:pt>
                <c:pt idx="7">
                  <c:v>272.12090661900004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00.0"/>
          <c:min val="0.0"/>
        </c:scaling>
        <c:delete val="0"/>
        <c:axPos val="b"/>
        <c:majorGridlines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进口额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Sheet1!$A$2:$A$9</c:f>
              <c:strCache>
                <c:ptCount val="8"/>
                <c:pt idx="0">
                  <c:v>美国</c:v>
                </c:pt>
                <c:pt idx="1">
                  <c:v>德国</c:v>
                </c:pt>
                <c:pt idx="2">
                  <c:v>印度</c:v>
                </c:pt>
                <c:pt idx="3">
                  <c:v>西班牙</c:v>
                </c:pt>
                <c:pt idx="4">
                  <c:v>意大利</c:v>
                </c:pt>
                <c:pt idx="5">
                  <c:v>韩国</c:v>
                </c:pt>
                <c:pt idx="6">
                  <c:v>墨西哥</c:v>
                </c:pt>
                <c:pt idx="7">
                  <c:v>法国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650.965322</c:v>
                </c:pt>
                <c:pt idx="1">
                  <c:v>467.54889569700003</c:v>
                </c:pt>
                <c:pt idx="2">
                  <c:v>243.833650659</c:v>
                </c:pt>
                <c:pt idx="3">
                  <c:v>241.36905435100002</c:v>
                </c:pt>
                <c:pt idx="4">
                  <c:v>219.258610855</c:v>
                </c:pt>
                <c:pt idx="5">
                  <c:v>208.757056</c:v>
                </c:pt>
                <c:pt idx="6">
                  <c:v>190.214016</c:v>
                </c:pt>
                <c:pt idx="7">
                  <c:v>178.121241148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0.0"/>
          <c:min val="0.0"/>
        </c:scaling>
        <c:delete val="0"/>
        <c:axPos val="b"/>
        <c:majorGridlines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增长幅度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Sheet1!$A$2:$A$7</c:f>
              <c:strCache>
                <c:ptCount val="6"/>
                <c:pt idx="0">
                  <c:v>日本 +39.9%</c:v>
                </c:pt>
                <c:pt idx="1">
                  <c:v>中国 +43.8%</c:v>
                </c:pt>
                <c:pt idx="2">
                  <c:v>德国 +2.8%</c:v>
                </c:pt>
                <c:pt idx="3">
                  <c:v>美国 +21.3%</c:v>
                </c:pt>
                <c:pt idx="4">
                  <c:v>丹麦 −13.7%</c:v>
                </c:pt>
                <c:pt idx="5">
                  <c:v>韩国 +7.1%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39.947791480868645</c:v>
                </c:pt>
                <c:pt idx="1">
                  <c:v>43.83529640328576</c:v>
                </c:pt>
                <c:pt idx="2">
                  <c:v>2.815535657667856</c:v>
                </c:pt>
                <c:pt idx="3">
                  <c:v>21.324690515514998</c:v>
                </c:pt>
                <c:pt idx="4">
                  <c:v>0</c:v>
                </c:pt>
                <c:pt idx="5">
                  <c:v>7.073637489847662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下降幅度</c:v>
                </c:pt>
              </c:strCache>
            </c:strRef>
          </c:tx>
          <c:spPr>
            <a:solidFill>
              <a:srgbClr val="C55353"/>
            </a:solidFill>
            <a:ln>
              <a:solidFill>
                <a:srgbClr val="C55353"/>
              </a:solidFill>
            </a:ln>
          </c:spPr>
          <c:cat>
            <c:strRef>
              <c:f>Sheet1!$A$2:$A$7</c:f>
              <c:strCache>
                <c:ptCount val="6"/>
                <c:pt idx="0">
                  <c:v>日本 +39.9%</c:v>
                </c:pt>
                <c:pt idx="1">
                  <c:v>中国 +43.8%</c:v>
                </c:pt>
                <c:pt idx="2">
                  <c:v>德国 +2.8%</c:v>
                </c:pt>
                <c:pt idx="3">
                  <c:v>美国 +21.3%</c:v>
                </c:pt>
                <c:pt idx="4">
                  <c:v>丹麦 −13.7%</c:v>
                </c:pt>
                <c:pt idx="5">
                  <c:v>韩国 +7.1%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13.69283516161447</c:v>
                </c:pt>
                <c:pt idx="5">
                  <c:v>0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b"/>
        <c:majorGridlines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出口额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Sheet1!$A$2:$A$8</c:f>
              <c:strCache>
                <c:ptCount val="7"/>
                <c:pt idx="0">
                  <c:v>匈牙利</c:v>
                </c:pt>
                <c:pt idx="1">
                  <c:v>德国</c:v>
                </c:pt>
                <c:pt idx="2">
                  <c:v>波兰</c:v>
                </c:pt>
                <c:pt idx="3">
                  <c:v>韩国</c:v>
                </c:pt>
                <c:pt idx="4">
                  <c:v>美国</c:v>
                </c:pt>
                <c:pt idx="5">
                  <c:v>日本</c:v>
                </c:pt>
                <c:pt idx="6">
                  <c:v>中国香港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6.054187203811</c:v>
                </c:pt>
                <c:pt idx="1">
                  <c:v>5.758666978982999</c:v>
                </c:pt>
                <c:pt idx="2">
                  <c:v>4.356940267</c:v>
                </c:pt>
                <c:pt idx="3">
                  <c:v>4.286334109</c:v>
                </c:pt>
                <c:pt idx="4">
                  <c:v>4.233556805</c:v>
                </c:pt>
                <c:pt idx="5">
                  <c:v>3.676139926091</c:v>
                </c:pt>
                <c:pt idx="6">
                  <c:v>2.692987005855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 val="0"/>
        <c:axPos val="b"/>
        <c:majorGridlines/>
        <c:numFmt formatCode="0.0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进口额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Sheet1!$A$2:$A$9</c:f>
              <c:strCache>
                <c:ptCount val="8"/>
                <c:pt idx="0">
                  <c:v>德国</c:v>
                </c:pt>
                <c:pt idx="1">
                  <c:v>美国</c:v>
                </c:pt>
                <c:pt idx="2">
                  <c:v>韩国</c:v>
                </c:pt>
                <c:pt idx="3">
                  <c:v>澳大利亚</c:v>
                </c:pt>
                <c:pt idx="4">
                  <c:v>捷克</c:v>
                </c:pt>
                <c:pt idx="5">
                  <c:v>墨西哥</c:v>
                </c:pt>
                <c:pt idx="6">
                  <c:v>印度</c:v>
                </c:pt>
                <c:pt idx="7">
                  <c:v>荷兰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28.830479555744</c:v>
                </c:pt>
                <c:pt idx="1">
                  <c:v>20.084554725</c:v>
                </c:pt>
                <c:pt idx="2">
                  <c:v>4.947060308</c:v>
                </c:pt>
                <c:pt idx="3">
                  <c:v>4.886269129899</c:v>
                </c:pt>
                <c:pt idx="4">
                  <c:v>4.563440203</c:v>
                </c:pt>
                <c:pt idx="5">
                  <c:v>4.280154524</c:v>
                </c:pt>
                <c:pt idx="6">
                  <c:v>4.0836039103270005</c:v>
                </c:pt>
                <c:pt idx="7">
                  <c:v>3.445254028903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0"/>
          <c:min val="0.0"/>
        </c:scaling>
        <c:delete val="0"/>
        <c:axPos val="b"/>
        <c:majorGridlines/>
        <c:numFmt formatCode="0.0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出口件数</c:v>
                </c:pt>
              </c:strCache>
            </c:strRef>
          </c:tx>
          <c:spPr>
            <a:solidFill>
              <a:srgbClr val="007F86"/>
            </a:solidFill>
            <a:ln>
              <a:solidFill>
                <a:srgbClr val="007F86"/>
              </a:solidFill>
            </a:ln>
          </c:spPr>
          <c:cat>
            <c:strRef>
              <c:f>Sheet1!$A$2:$A$4</c:f>
              <c:strCache>
                <c:ptCount val="3"/>
                <c:pt idx="0">
                  <c:v>中国</c:v>
                </c:pt>
                <c:pt idx="1">
                  <c:v>日本</c:v>
                </c:pt>
                <c:pt idx="2">
                  <c:v>美国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134939.0</c:v>
                </c:pt>
                <c:pt idx="1">
                  <c:v>131805.0</c:v>
                </c:pt>
                <c:pt idx="2">
                  <c:v>10456.0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3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00.0"/>
          <c:min val="0.0"/>
        </c:scaling>
        <c:delete val="0"/>
        <c:axPos val="b"/>
        <c:majorGridlines/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海外具身机器人市场机会</a:t>
            </a:r>
          </a:p>
          <a:p>
            <a:r>
              <a:t>BPI 管理层汇报｜需求、增长、份额、贸易与电池机会｜数据增强版</a:t>
            </a:r>
          </a:p>
          <a:p/>
          <a:p>
            <a:r>
              <a:t>D06 https://ifr.org/ifr-press-releases/news/five-million-robots-now-operate-in-factories-globally</a:t>
            </a:r>
          </a:p>
          <a:p>
            <a:r>
              <a:t>D08 https://ifr.org/ifr-press-releases/news/top-5-global-robotics-trends-2026</a:t>
            </a:r>
          </a:p>
          <a:p>
            <a:r>
              <a:t>D10 https://ifr.org/downloads/press_docs/Market_Presentation_WR_Press_Conference_2026.pdf</a:t>
            </a:r>
          </a:p>
          <a:p>
            <a:r>
              <a:t>D12 https://www.unitree.com/g1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先看四个关键事实：物流量大，人形仍在早期</a:t>
            </a:r>
          </a:p>
          <a:p>
            <a:r>
              <a:t>以下为2025实绩/样本统计；不是2026全年实际出货</a:t>
            </a:r>
          </a:p>
          <a:p/>
          <a:p>
            <a:r>
              <a:t>D07 https://ifr.org/ifr-press-releases/news/global-sales-of-professional-service-robots-surge-24-percent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市场规模要分口径：系统营业额、安装金额、预测TAM</a:t>
            </a:r>
          </a:p>
          <a:p>
            <a:r>
              <a:t>三项覆盖范围和统计期不同；不相加，不视为2026具身机器人总市场</a:t>
            </a:r>
          </a:p>
          <a:p/>
          <a:p>
            <a:r>
              <a:t>D10 https://ifr.org/downloads/press_docs/Market_Presentation_WR_Press_Conference_2026.pdf</a:t>
            </a:r>
          </a:p>
          <a:p>
            <a:r>
              <a:t>D08 https://ifr.org/ifr-press-releases/news/top-5-global-robotics-trends-2026</a:t>
            </a:r>
          </a:p>
          <a:p>
            <a:r>
              <a:t>D03 https://www.goldmansachs.com/insights/articles/the-global-market-for-robots-could-reach-38-billion-by-2035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全球工业机器人安装：2025年约60.3万台，增加约6.1万台</a:t>
            </a:r>
          </a:p>
          <a:p>
            <a:r>
              <a:t>需求背景对比｜2015—2025年，单位：千台；不是主动力电池需求</a:t>
            </a:r>
          </a:p>
          <a:p>
            <a:r>
              <a:t>图示数据四舍五入；固定供电工业机器人不可直接折算电池包需求。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2026—2029安装量预测：65.5万台增至80.6万台</a:t>
            </a:r>
          </a:p>
          <a:p>
            <a:r>
              <a:t>工业机器人｜历史实绩与IFR预测分开展示；单位：千台</a:t>
            </a:r>
          </a:p>
          <a:p>
            <a:r>
              <a:t>2026–2029为IFR预测，不能表述为已实现增长或已确认订单。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区域需求分化：亚洲扩大，欧洲回落，美洲恢复</a:t>
            </a:r>
          </a:p>
          <a:p>
            <a:r>
              <a:t>2021—2025工业机器人安装量；单位：千台</a:t>
            </a:r>
          </a:p>
          <a:p>
            <a:r>
              <a:t>三个区域不是全球完整合计；其他地区未在柱形序列展示。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市场份额对比：亚洲占2025工业机器人安装的76%</a:t>
            </a:r>
          </a:p>
          <a:p>
            <a:r>
              <a:t>份额分母：全球工业机器人当年安装量；不是电池市场或品牌份额</a:t>
            </a:r>
          </a:p>
          <a:p>
            <a:r>
              <a:t>整数份额为IFR公开图表值，含四舍五入。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海外工业需求量：美国、日本、韩国、德国领先</a:t>
            </a:r>
          </a:p>
          <a:p>
            <a:r>
              <a:t>2025安装量｜TOP10中除中国大陆外的市场；单位：千台</a:t>
            </a:r>
          </a:p>
          <a:p>
            <a:r>
              <a:t>中国大陆354.2千台作供应/竞争背景单列；各市场数字为图示近似值。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增长率对比：美国+12%，日本−19%，新加坡+26%</a:t>
            </a:r>
          </a:p>
          <a:p>
            <a:r>
              <a:t>2025工业需求同比｜单位：%；柱长为增/降幅绝对值，方向见类别与图例</a:t>
            </a:r>
          </a:p>
          <a:p>
            <a:r>
              <a:t>这是安装量同比，不能当作当地具身机器人或机器人电池市场同比。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主要国家需求量对比：美国恢复，日本明显下降</a:t>
            </a:r>
          </a:p>
          <a:p>
            <a:r>
              <a:t>2024与2025工业安装；单位：千台；使用各年度IFR公开资料</a:t>
            </a:r>
          </a:p>
          <a:p>
            <a:r>
              <a:t>2024值来自World Robotics2025公开资料；2025来自2026批次，可能有修订与四舍五入。</a:t>
            </a:r>
          </a:p>
          <a:p>
            <a:r>
              <a:t>D01 https://ifr.org/ifr-press-releases/news/global-robot-demand-in-factories-doubles-over-10-years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应用需求量对比：物流领先，清洁位居第三</a:t>
            </a:r>
          </a:p>
          <a:p>
            <a:r>
              <a:t>2025专业服务机器人销量｜同一238家供应商调查样本；单位：台</a:t>
            </a:r>
          </a:p>
          <a:p>
            <a:r>
              <a:t>样本不外推全行业；酒店/接待包含引导、信息与远程呈现等，不仅餐饮配送。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增长率对比：检查维护+83%，清洁+40%，物流+21%</a:t>
            </a:r>
          </a:p>
          <a:p>
            <a:r>
              <a:t>2025较2024同比｜仅使用IFR2026同一调查批次</a:t>
            </a:r>
          </a:p>
          <a:p>
            <a:r>
              <a:t>不拼接World Robotics2025与2026服务样本；样本构成每年变化。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增长量对比：物流新增规模大于检查维护</a:t>
            </a:r>
          </a:p>
          <a:p>
            <a:r>
              <a:t>按2025销量与IFR公布同比反推的可比增量；单位：台，约数</a:t>
            </a:r>
          </a:p>
          <a:p>
            <a:r>
              <a:t>推导：增量=N2025−N2025/(1+同比)。同比经过四舍五入，此图不是原始2024销量统计。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应用市场份额：物流47%，清洁18%，合计约65%</a:t>
            </a:r>
          </a:p>
          <a:p>
            <a:r>
              <a:t>份额分母：2025专业服务机器人调查样本；不是全行业或品牌份额</a:t>
            </a:r>
          </a:p>
          <a:p>
            <a:r>
              <a:t>原始图表样本合计249,568台；IFR整数份额存在四舍五入。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机会矩阵：同时看需求量和增速，而非单独看热度</a:t>
            </a:r>
          </a:p>
          <a:p>
            <a:r>
              <a:t>横轴：2025样本销量/千台；纵轴：同批次同比/%</a:t>
            </a:r>
          </a:p>
          <a:p>
            <a:r>
              <a:t>点位置为统计事实；BPI开发优先级属于战略判断，未量化电池外采比例。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人形窄口径：约7,000台，不能把研发机与产能计划相加</a:t>
            </a:r>
          </a:p>
          <a:p>
            <a:r>
              <a:t>2025全尺寸 &gt;140 cm；面向专业/商业用途，排除R&amp;D与娱乐</a:t>
            </a:r>
          </a:p>
          <a:p/>
          <a:p>
            <a:r>
              <a:t>D07 https://ifr.org/ifr-press-releases/news/global-sales-of-professional-service-robots-surge-24-percent</a:t>
            </a:r>
          </a:p>
          <a:p>
            <a:r>
              <a:t>D10 https://ifr.org/downloads/press_docs/Market_Presentation_WR_Press_Conference_2026.pdf</a:t>
            </a:r>
          </a:p>
          <a:p>
            <a:r>
              <a:t>D12 https://www.unitree.com/g1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长期人形预测：2035目标上修，但并非已实现增长</a:t>
            </a:r>
          </a:p>
          <a:p>
            <a:r>
              <a:t>Goldman Sachs于2024年发表的预测；金额：十亿美元</a:t>
            </a:r>
          </a:p>
          <a:p>
            <a:r>
              <a:t>同一2035目标年的预测修订：6→38；不是历史市场收入增长，也不是2026最新预测。</a:t>
            </a:r>
          </a:p>
          <a:p>
            <a:r>
              <a:t>D03 https://www.goldmansachs.com/insights/articles/the-global-market-for-robots-could-reach-38-billion-by-2035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供应商份额对比：中国本土份额55%，不是品牌全球份额</a:t>
            </a:r>
          </a:p>
          <a:p>
            <a:r>
              <a:t>中国工业机器人市场：本土/外资供应商结构；单位：%</a:t>
            </a:r>
          </a:p>
          <a:p>
            <a:r>
              <a:t>只有供应商来源结构可核验；本版不制作缺少统一出货分母的企业份额饼图。</a:t>
            </a:r>
          </a:p>
          <a:p>
            <a:r>
              <a:t>D01 https://ifr.org/ifr-press-releases/news/global-robot-demand-in-factories-doubles-over-10-years</a:t>
            </a:r>
          </a:p>
          <a:p>
            <a:r>
              <a:t>D06 https://ifr.org/ifr-press-releases/news/five-million-robots-now-operate-in-factories-globally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主要厂商比较：看商业阶段与电池采购开放度</a:t>
            </a:r>
          </a:p>
          <a:p>
            <a:r>
              <a:t>公开证据有不同口径，不能排成销量或份额榜</a:t>
            </a:r>
          </a:p>
          <a:p/>
          <a:p>
            <a:r>
              <a:t>D12 https://www.unitree.com/g1</a:t>
            </a:r>
          </a:p>
          <a:p>
            <a:r>
              <a:t>D14 https://www.unitree.com/b2</a:t>
            </a:r>
          </a:p>
          <a:p>
            <a:r>
              <a:t>D17 https://www.agilityrobotics.com/</a:t>
            </a:r>
          </a:p>
          <a:p>
            <a:r>
              <a:t>D26 https://www.figure.ai/news/production-at-bmw</a:t>
            </a:r>
          </a:p>
          <a:p>
            <a:r>
              <a:t>D29 https://www.agilityrobotics.com/solutions/digit-5</a:t>
            </a:r>
          </a:p>
          <a:p>
            <a:r>
              <a:t>S01 https://raw.githubusercontent.com/boston-dynamics/spot-sdk/04537ddafe0641d1751af3eb9e76cb785fc18594/docs/payload/robot_electrical_interface.md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真实部署案例：Figure在BMW的任务量与运行数据</a:t>
            </a:r>
          </a:p>
          <a:p>
            <a:r>
              <a:t>F.02项目，2025-11-19厂商发布；非独立审计，不代表市场份额</a:t>
            </a:r>
          </a:p>
          <a:p/>
          <a:p>
            <a:r>
              <a:t>D26 https://www.figure.ai/news/production-at-bmw</a:t>
            </a:r>
          </a:p>
          <a:p>
            <a:r>
              <a:t>D27 https://www.figure.ai/news/f-03-at-bmw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Figure电池生产案例：数量和一次通过率都影响采购</a:t>
            </a:r>
          </a:p>
          <a:p>
            <a:r>
              <a:t>2026-04-29厂商自述｜产出包括研发、数据采集与商业用例开发</a:t>
            </a:r>
          </a:p>
          <a:p>
            <a:r>
              <a:t>&gt;350机器人与&gt;500电池包均为下限，不据此计算每台精确配包比。</a:t>
            </a:r>
          </a:p>
          <a:p>
            <a:r>
              <a:t>D28 https://www.figure.ai/news/ramping-figure-03-production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产品电池容量对比：9 Ah人形、8/15 Ah小四足、45 Ah工业四足</a:t>
            </a:r>
          </a:p>
          <a:p>
            <a:r>
              <a:t>已读取厂商参数；仅比较Ah维度，不代表能量、续航或性能排名</a:t>
            </a:r>
          </a:p>
          <a:p>
            <a:r>
              <a:t>不同电压下Ah不可直接代表能量；必须另行核验标称电压与整机工况。</a:t>
            </a:r>
          </a:p>
          <a:p>
            <a:r>
              <a:t>D12 https://www.unitree.com/g1</a:t>
            </a:r>
          </a:p>
          <a:p>
            <a:r>
              <a:t>D14 https://www.unitree.com/b2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公开能量对比：Spot 600 Wh，B2 2250 Wh</a:t>
            </a:r>
          </a:p>
          <a:p>
            <a:r>
              <a:t>两个平台的官方公开值；不代表全行业容量分布或同工况续航</a:t>
            </a:r>
          </a:p>
          <a:p>
            <a:r>
              <a:t>B2官网同时列58 V与45 Ah：不把58 V当标称值相乘，保留原始2250 Wh。</a:t>
            </a:r>
          </a:p>
          <a:p>
            <a:r>
              <a:t>S01 https://raw.githubusercontent.com/boston-dynamics/spot-sdk/04537ddafe0641d1751af3eb9e76cb785fc18594/docs/payload/robot_electrical_interface.md</a:t>
            </a:r>
          </a:p>
          <a:p>
            <a:r>
              <a:t>D14 https://www.unitree.com/b2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电压、容量与续航：不把充电器电压写成标称电压</a:t>
            </a:r>
          </a:p>
          <a:p>
            <a:r>
              <a:t>产品案例参数；工况与版本不同，续航不能作为同条件排名</a:t>
            </a:r>
          </a:p>
          <a:p/>
          <a:p>
            <a:r>
              <a:t>D12 https://www.unitree.com/g1</a:t>
            </a:r>
          </a:p>
          <a:p>
            <a:r>
              <a:t>D14 https://www.unitree.com/b2</a:t>
            </a:r>
          </a:p>
          <a:p>
            <a:r>
              <a:t>S01 https://raw.githubusercontent.com/boston-dynamics/spot-sdk/04537ddafe0641d1751af3eb9e76cb785fc18594/docs/payload/robot_electrical_interface.md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BPI产品组合：LiFePO4轮式路线＋轻量高功率路线</a:t>
            </a:r>
          </a:p>
          <a:p>
            <a:r>
              <a:t>方案建议；并非已认证或可直接替换原厂的产品</a:t>
            </a:r>
          </a:p>
          <a:p/>
          <a:p>
            <a:r>
              <a:t>D12 https://www.unitree.com/g1</a:t>
            </a:r>
          </a:p>
          <a:p>
            <a:r>
              <a:t>D14 https://www.unitree.com/b2</a:t>
            </a:r>
          </a:p>
          <a:p>
            <a:r>
              <a:t>S01 https://raw.githubusercontent.com/boston-dynamics/spot-sdk/04537ddafe0641d1751af3eb9e76cb785fc18594/docs/payload/robot_electrical_interface.md</a:t>
            </a:r>
          </a:p>
          <a:p>
            <a:r>
              <a:t>S02 https://raw.githubusercontent.com/boston-dynamics/spot-sdk/04537ddafe0641d1751af3eb9e76cb785fc18594/protos/bosdyn/api/robot_state.proto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机器人出口额对比：日本、中国、德国居可用数据前列</a:t>
            </a:r>
          </a:p>
          <a:p>
            <a:r>
              <a:t>2025 HS847950；世界伙伴；单位：百万美元；79个H6可用报告国</a:t>
            </a:r>
          </a:p>
          <a:p>
            <a:r>
              <a:t>HS2022(H6)，不含区域汇总；可用报告国排序不是完整全球榜，也不等于具身机器人出货。</a:t>
            </a:r>
          </a:p>
          <a:p>
            <a:r>
              <a:t>T05 https://comtradeapi.un.org/public/v1/preview/C/A/HS?period=2025&amp;cmdCode=847950&amp;flowCode=X&amp;partnerCode=0&amp;partner2Code=0&amp;customsCode=C00&amp;motCode=0&amp;maxRecords=500</a:t>
            </a:r>
          </a:p>
          <a:p>
            <a:r>
              <a:t>D21 https://comtradeapi.un.org/files/v1/app/reference/Reporters.json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机器人进口额对比：美国、德国是重要海外节点</a:t>
            </a:r>
          </a:p>
          <a:p>
            <a:r>
              <a:t>2025 HS847950；单位：百万美元；107个H6可用报告国</a:t>
            </a:r>
          </a:p>
          <a:p>
            <a:r>
              <a:t>中国849.7百万美元作参照；图示海外前列，不代表所有形态机器人或最终消费。</a:t>
            </a:r>
          </a:p>
          <a:p>
            <a:r>
              <a:t>T06 https://comtradeapi.un.org/public/v1/preview/C/A/HS?period=2025&amp;cmdCode=847950&amp;flowCode=M&amp;partnerCode=0&amp;partner2Code=0&amp;customsCode=C00&amp;motCode=0&amp;maxRecords=500</a:t>
            </a:r>
          </a:p>
          <a:p>
            <a:r>
              <a:t>D21 https://comtradeapi.un.org/files/v1/app/reference/Reporters.json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贸易增长对比：日本与中国出口增加，丹麦下降</a:t>
            </a:r>
          </a:p>
          <a:p>
            <a:r>
              <a:t>HS847950出口额同比｜同国/H6；单位%；柱长为增/降幅绝对值</a:t>
            </a:r>
          </a:p>
          <a:p>
            <a:r>
              <a:t>同比由UN Comtrade原始金额计算；更新与报告国覆盖不完整，不代表全市场同比。</a:t>
            </a:r>
          </a:p>
          <a:p>
            <a:r>
              <a:t>T05 https://comtradeapi.un.org/public/v1/preview/C/A/HS?period=2025&amp;cmdCode=847950&amp;flowCode=X&amp;partnerCode=0&amp;partner2Code=0&amp;customsCode=C00&amp;motCode=0&amp;maxRecords=500</a:t>
            </a:r>
          </a:p>
          <a:p>
            <a:r>
              <a:t>T07 https://comtradeapi.un.org/public/v1/preview/C/A/HS?period=2024&amp;cmdCode=847950&amp;flowCode=X&amp;partnerCode=0&amp;partner2Code=0&amp;customsCode=C00&amp;motCode=0&amp;maxRecords=500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锂离子电池出口：大市场背景，不能当机器人电池TAM</a:t>
            </a:r>
          </a:p>
          <a:p>
            <a:r>
              <a:t>2025 HS850760；单位：十亿美元；102个H6可用报告国</a:t>
            </a:r>
          </a:p>
          <a:p>
            <a:r>
              <a:t>编码覆盖大量EV、储能和其他用途；中国76.75十亿美元单列，未画在同尺度柱图。</a:t>
            </a:r>
          </a:p>
          <a:p>
            <a:r>
              <a:t>T09 https://comtradeapi.un.org/public/v1/preview/C/A/HS?period=2025&amp;cmdCode=850760&amp;flowCode=X&amp;partnerCode=0&amp;partner2Code=0&amp;customsCode=C00&amp;motCode=0&amp;maxRecords=500</a:t>
            </a:r>
          </a:p>
          <a:p>
            <a:r>
              <a:t>D21 https://comtradeapi.un.org/files/v1/app/reference/Reporters.json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锂离子电池进口：德国与美国金额明显领先</a:t>
            </a:r>
          </a:p>
          <a:p>
            <a:r>
              <a:t>2025 HS850760；单位：十亿美元；111个H6可用报告国</a:t>
            </a:r>
          </a:p>
          <a:p>
            <a:r>
              <a:t>机器人用途占比未知；原产地、贸易壁垒、认证与危险品运输逐项目核查。</a:t>
            </a:r>
          </a:p>
          <a:p>
            <a:r>
              <a:t>T10 https://comtradeapi.un.org/public/v1/preview/C/A/HS?period=2025&amp;cmdCode=850760&amp;flowCode=M&amp;partnerCode=0&amp;partner2Code=0&amp;customsCode=C00&amp;motCode=0&amp;maxRecords=500</a:t>
            </a:r>
          </a:p>
          <a:p>
            <a:r>
              <a:t>D21 https://comtradeapi.un.org/files/v1/app/reference/Reporters.json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出口数量对比：海关件数不是机器人在役安装量</a:t>
            </a:r>
          </a:p>
          <a:p>
            <a:r>
              <a:t>2025 HS847950｜本图仅选数量单位为件且非估算的三个报告国</a:t>
            </a:r>
          </a:p>
          <a:p>
            <a:r>
              <a:t>Germany等数量存在估算标识，未混入本图；海关件数不等于独立市场出货/在役台数。</a:t>
            </a:r>
          </a:p>
          <a:p>
            <a:r>
              <a:t>T05 https://comtradeapi.un.org/public/v1/preview/C/A/HS?period=2025&amp;cmdCode=847950&amp;flowCode=X&amp;partnerCode=0&amp;partner2Code=0&amp;customsCode=C00&amp;motCode=0&amp;maxRecords=500</a:t>
            </a:r>
          </a:p>
          <a:p>
            <a:r>
              <a:t>D23 https://comtradeapi.un.org/files/v1/app/reference/QuantityUnits.json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客户开发顺序：美国/欧洲项目优先，亚洲按匹配拓展</a:t>
            </a:r>
          </a:p>
          <a:p>
            <a:r>
              <a:t>战略判断｜综合需求、增长和采购可达性，不是机械套用贸易排名</a:t>
            </a:r>
          </a:p>
          <a:p/>
          <a:p>
            <a:r>
              <a:t>D10 https://ifr.org/downloads/press_docs/Market_Presentation_WR_Press_Conference_2026.pdf</a:t>
            </a:r>
          </a:p>
          <a:p>
            <a:r>
              <a:t>T05 https://comtradeapi.un.org/public/v1/preview/C/A/HS?period=2025&amp;cmdCode=847950&amp;flowCode=X&amp;partnerCode=0&amp;partner2Code=0&amp;customsCode=C00&amp;motCode=0&amp;maxRecords=500</a:t>
            </a:r>
          </a:p>
          <a:p>
            <a:r>
              <a:t>T10 https://comtradeapi.un.org/public/v1/preview/C/A/HS?period=2025&amp;cmdCode=850760&amp;flowCode=M&amp;partnerCode=0&amp;partner2Code=0&amp;customsCode=C00&amp;motCode=0&amp;maxRecords=500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客户画像：设计权、签约权、运行数据要连起来</a:t>
            </a:r>
          </a:p>
          <a:p>
            <a:r>
              <a:t>建议筛选规则｜真实付费25、设计开放25、技术匹配20、采购15、服务15</a:t>
            </a:r>
          </a:p>
          <a:p/>
          <a:p>
            <a:r>
              <a:t>S02 https://raw.githubusercontent.com/boston-dynamics/spot-sdk/04537ddafe0641d1751af3eb9e76cb785fc18594/protos/bosdyn/api/robot_state.proto</a:t>
            </a:r>
          </a:p>
          <a:p>
            <a:r>
              <a:t>S04 https://raw.githubusercontent.com/unitreerobotics/unitree_ros2/668d1ec5a05d1c38d3306bdca7d59f2ba3581a88/cyclonedds_ws/src/unitree/unitree_go/msg/BmsState.msg</a:t>
            </a:r>
          </a:p>
          <a:p>
            <a:r>
              <a:t>S08 https://raw.githubusercontent.com/husarion/husarion_ugv_ros/559e784b84c05c813b6ecfce02751d8b3966528a/husarion_ugv_battery/README.md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BPI收入测算：从客户项目出发，不假设全球份额</a:t>
            </a:r>
          </a:p>
          <a:p>
            <a:r>
              <a:t>纯商业示例｜所有输入人为假设；不是真实需求、报价或业绩预测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/ 90 / 180天：把数据机会转成可验收项目</a:t>
            </a:r>
          </a:p>
          <a:p>
            <a:r>
              <a:t>建议目标，不是既有订单；启动后90/180天可能跨入2027年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管理层决策：批准验证资源，扩产服从项目关口</a:t>
            </a:r>
          </a:p>
          <a:p>
            <a:r>
              <a:t>数据支持方向判断；BPI机器人适配、认证与优势仍需内部证明</a:t>
            </a:r>
          </a:p>
          <a:p/>
          <a:p>
            <a:r>
              <a:t>D07 https://ifr.org/ifr-press-releases/news/global-sales-of-professional-service-robots-surge-24-percent</a:t>
            </a:r>
          </a:p>
          <a:p>
            <a:r>
              <a:t>D10 https://ifr.org/downloads/press_docs/Market_Presentation_WR_Press_Conference_2026.pdf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来源与口径附录 1</a:t>
            </a:r>
          </a:p>
          <a:p>
            <a:r>
              <a:t>标题可点击打开原始来源；完整URL、哈希与贸易原始值见配套Excel和reports/data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来源与口径附录 2</a:t>
            </a:r>
          </a:p>
          <a:p>
            <a:r>
              <a:t>标题可点击打开原始来源；完整URL、哈希与贸易原始值见配套Excel和reports/data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来源与口径附录 3</a:t>
            </a:r>
          </a:p>
          <a:p>
            <a:r>
              <a:t>标题可点击打开原始来源；完整URL、哈希与贸易原始值见配套Excel和reports/data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chart" Target="../charts/chart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ifr.org/ifr-press-releases/news/global-robot-demand-in-factories-doubles-over-10-years" TargetMode="External"/><Relationship Id="rId4" Type="http://schemas.openxmlformats.org/officeDocument/2006/relationships/hyperlink" Target="https://www.goldmansachs.com/insights/articles/the-global-market-for-robots-could-reach-38-billion-by-2035" TargetMode="External"/><Relationship Id="rId5" Type="http://schemas.openxmlformats.org/officeDocument/2006/relationships/hyperlink" Target="https://ifr.org/ifr-press-releases/news/five-million-robots-now-operate-in-factories-globally" TargetMode="External"/><Relationship Id="rId6" Type="http://schemas.openxmlformats.org/officeDocument/2006/relationships/hyperlink" Target="https://ifr.org/ifr-press-releases/news/global-sales-of-professional-service-robots-surge-24-percent" TargetMode="External"/><Relationship Id="rId7" Type="http://schemas.openxmlformats.org/officeDocument/2006/relationships/hyperlink" Target="https://ifr.org/ifr-press-releases/news/top-5-global-robotics-trends-2026" TargetMode="External"/><Relationship Id="rId8" Type="http://schemas.openxmlformats.org/officeDocument/2006/relationships/hyperlink" Target="https://ifr.org/downloads/press_docs/Market_Presentation_WR_Press_Conference_2026.pdf" TargetMode="External"/><Relationship Id="rId9" Type="http://schemas.openxmlformats.org/officeDocument/2006/relationships/hyperlink" Target="https://www.unitree.com/g1" TargetMode="External"/><Relationship Id="rId10" Type="http://schemas.openxmlformats.org/officeDocument/2006/relationships/hyperlink" Target="https://www.unitree.com/go2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unitree.com/b2" TargetMode="External"/><Relationship Id="rId4" Type="http://schemas.openxmlformats.org/officeDocument/2006/relationships/hyperlink" Target="https://www.agilityrobotics.com/" TargetMode="External"/><Relationship Id="rId5" Type="http://schemas.openxmlformats.org/officeDocument/2006/relationships/hyperlink" Target="https://comtradeapi.un.org/files/v1/app/reference/Reporters.json" TargetMode="External"/><Relationship Id="rId6" Type="http://schemas.openxmlformats.org/officeDocument/2006/relationships/hyperlink" Target="https://comtradeapi.un.org/files/v1/app/reference/QuantityUnits.json" TargetMode="External"/><Relationship Id="rId7" Type="http://schemas.openxmlformats.org/officeDocument/2006/relationships/hyperlink" Target="https://www.figure.ai/news/production-at-bmw" TargetMode="External"/><Relationship Id="rId8" Type="http://schemas.openxmlformats.org/officeDocument/2006/relationships/hyperlink" Target="https://www.figure.ai/news/f-03-at-bmw" TargetMode="External"/><Relationship Id="rId9" Type="http://schemas.openxmlformats.org/officeDocument/2006/relationships/hyperlink" Target="https://www.figure.ai/news/ramping-figure-03-production" TargetMode="External"/><Relationship Id="rId10" Type="http://schemas.openxmlformats.org/officeDocument/2006/relationships/hyperlink" Target="https://comtradeapi.un.org/public/v1/preview/C/A/HS?period=2025&amp;cmdCode=847950&amp;flowCode=M&amp;partnerCode=0&amp;partner2Code=0&amp;customsCode=C00&amp;motCode=0&amp;maxRecords=500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comtradeapi.un.org/public/v1/preview/C/A/HS?period=2024&amp;cmdCode=847950&amp;flowCode=X&amp;partnerCode=0&amp;partner2Code=0&amp;customsCode=C00&amp;motCode=0&amp;maxRecords=500" TargetMode="External"/><Relationship Id="rId4" Type="http://schemas.openxmlformats.org/officeDocument/2006/relationships/hyperlink" Target="https://comtradeapi.un.org/public/v1/preview/C/A/HS?period=2024&amp;cmdCode=847950&amp;flowCode=M&amp;partnerCode=0&amp;partner2Code=0&amp;customsCode=C00&amp;motCode=0&amp;maxRecords=500" TargetMode="External"/><Relationship Id="rId5" Type="http://schemas.openxmlformats.org/officeDocument/2006/relationships/hyperlink" Target="https://comtradeapi.un.org/public/v1/preview/C/A/HS?period=2025&amp;cmdCode=850760&amp;flowCode=X&amp;partnerCode=0&amp;partner2Code=0&amp;customsCode=C00&amp;motCode=0&amp;maxRecords=500" TargetMode="External"/><Relationship Id="rId6" Type="http://schemas.openxmlformats.org/officeDocument/2006/relationships/hyperlink" Target="https://comtradeapi.un.org/public/v1/preview/C/A/HS?period=2025&amp;cmdCode=850760&amp;flowCode=M&amp;partnerCode=0&amp;partner2Code=0&amp;customsCode=C00&amp;motCode=0&amp;maxRecords=500" TargetMode="External"/><Relationship Id="rId7" Type="http://schemas.openxmlformats.org/officeDocument/2006/relationships/hyperlink" Target="https://comtradeapi.un.org/public/v1/preview/C/A/HS?period=2025&amp;cmdCode=847950&amp;flowCode=X&amp;partnerCode=0&amp;partner2Code=0&amp;customsCode=C00&amp;motCode=0&amp;maxRecords=500" TargetMode="External"/><Relationship Id="rId8" Type="http://schemas.openxmlformats.org/officeDocument/2006/relationships/hyperlink" Target="https://raw.githubusercontent.com/boston-dynamics/spot-sdk/04537ddafe0641d1751af3eb9e76cb785fc18594/docs/payload/robot_electrical_interface.md" TargetMode="External"/><Relationship Id="rId9" Type="http://schemas.openxmlformats.org/officeDocument/2006/relationships/hyperlink" Target="https://raw.githubusercontent.com/boston-dynamics/spot-sdk/04537ddafe0641d1751af3eb9e76cb785fc18594/protos/bosdyn/api/robot_state.prot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2026 海外具身机器人市场机会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BPI 管理层汇报｜需求、增长、份额、贸易与电池机会｜数据增强版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来源：D06–D08、D10；图片 ©Unitree / D12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8978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02D43"/>
                </a:solidFill>
                <a:latin typeface="Microsoft YaHei"/>
              </a:defRPr>
            </a:pPr>
            <a:r>
              <a:t>以可核验数据判断市场</a:t>
            </a:r>
          </a:p>
          <a:p>
            <a:pPr>
              <a:spcAft>
                <a:spcPts val="700"/>
              </a:spcAft>
              <a:defRPr sz="2900" b="1">
                <a:solidFill>
                  <a:srgbClr val="102D43"/>
                </a:solidFill>
                <a:latin typeface="Microsoft YaHei"/>
              </a:defRPr>
            </a:pPr>
            <a:r>
              <a:t>以真实客户项目验证电池机会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566928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02D43"/>
                </a:solidFill>
                <a:latin typeface="Microsoft YaHei"/>
              </a:defRPr>
            </a:pPr>
            <a:r>
              <a:t>优先移动操作与工业移动平台</a:t>
            </a:r>
          </a:p>
          <a:p>
            <a:pPr>
              <a:spcAft>
                <a:spcPts val="700"/>
              </a:spcAft>
              <a:defRPr sz="2000" b="0">
                <a:solidFill>
                  <a:srgbClr val="102D43"/>
                </a:solidFill>
                <a:latin typeface="Microsoft YaHei"/>
              </a:defRPr>
            </a:pPr>
            <a:r>
              <a:t>轮式LiFePO4与轻量高功率包并行验证</a:t>
            </a:r>
          </a:p>
          <a:p>
            <a:pPr>
              <a:spcAft>
                <a:spcPts val="700"/>
              </a:spcAft>
              <a:defRPr sz="2000" b="0">
                <a:solidFill>
                  <a:srgbClr val="102D43"/>
                </a:solidFill>
                <a:latin typeface="Microsoft YaHei"/>
              </a:defRPr>
            </a:pPr>
            <a:r>
              <a:t>人形项目分阶段投入，按整机验收推进</a:t>
            </a:r>
          </a:p>
        </p:txBody>
      </p:sp>
      <p:pic>
        <p:nvPicPr>
          <p:cNvPr id="10" name="Picture 9" descr="Unitree_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4663440" cy="29274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4718304"/>
            <a:ext cx="457200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图片：Unitree G1；高1.32 m，不属于IFR &gt;1.4 m人形统计。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先看四个关键事实：物流量大，人形仍在早期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以下为2025实绩/样本统计；不是2026全年实际出货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来源：D07、D10 p28–33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246888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47672"/>
            <a:ext cx="219456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≈25万台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专业服务机器人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53512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238家供应商样本；同比+24%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783080"/>
            <a:ext cx="246888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947672"/>
            <a:ext cx="219456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117,488台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78608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运输物流机器人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53512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样本应用份额47%；同比+21%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246888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47672"/>
            <a:ext cx="219456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≈7,000台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78608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全尺寸人形机器人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53512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&gt;140 cm；专业商业用途窄口径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783080"/>
            <a:ext cx="246888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947672"/>
            <a:ext cx="219456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174家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578608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人形机器人制造商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953512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IFR识别；超过50%位于中国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23360"/>
            <a:ext cx="1060704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02D43"/>
                </a:solidFill>
                <a:latin typeface="Microsoft YaHei"/>
              </a:defRPr>
            </a:pPr>
            <a:r>
              <a:t>BPI建议：先争取移动平台智能电池组项目，同时保留人形联合开发路线。</a:t>
            </a:r>
          </a:p>
          <a:p>
            <a:pPr>
              <a:spcAft>
                <a:spcPts val="700"/>
              </a:spcAft>
              <a:defRPr sz="2100" b="1">
                <a:solidFill>
                  <a:srgbClr val="102D43"/>
                </a:solidFill>
                <a:latin typeface="Microsoft YaHei"/>
              </a:defRPr>
            </a:pPr>
            <a:r>
              <a:t>物流样本与人形窄口径存在定义差异，不能相加或直接计算全行业形态份额。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市场规模要分口径：系统营业额、安装金额、预测TAM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三项覆盖范围和统计期不同；不相加，不视为2026具身机器人总市场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p3；D08；D03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500亿美元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3288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全球机器人系统年度营业额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07791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IFR2026发布会；含软件与外围系统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0195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167亿美元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3288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工业机器人安装市场价值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07791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IFR2026-01发布；原文未单列统计年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380亿美元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3288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2035人形机器人预测TAM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907791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Goldman Sachs于2024年发布的预测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31920"/>
            <a:ext cx="10607040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02D43"/>
                </a:solidFill>
                <a:latin typeface="Microsoft YaHei"/>
              </a:defRPr>
            </a:pPr>
            <a:r>
              <a:t>当前没有在本次公开来源中取得统一定义的“2026全球具身机器人金额”。</a:t>
            </a:r>
          </a:p>
          <a:p>
            <a:pPr>
              <a:spcAft>
                <a:spcPts val="700"/>
              </a:spcAft>
              <a:defRPr sz="2000" b="0">
                <a:solidFill>
                  <a:srgbClr val="102D43"/>
                </a:solidFill>
                <a:latin typeface="Microsoft YaHei"/>
              </a:defRPr>
            </a:pPr>
            <a:r>
              <a:t>决策采用可复核的细分销量、应用增长、国家差异和客户项目，不把工业/软件收入当电池TAM。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全球工业机器人安装：2025年约60.3万台，增加约6.1万台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需求背景对比｜2015—2025年，单位：千台；不是主动力电池需求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p9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图示数据四舍五入；固定供电工业机器人不可直接折算电池包需求。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需求已恢复增长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2024：542千台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2025：603千台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IFR公布同比+11%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BPI应关注移动化项目，不能按全部工业安装量估算电池销量。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2026—2029安装量预测：65.5万台增至80.6万台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工业机器人｜历史实绩与IFR预测分开展示；单位：千台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p22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2026–2029为IFR预测，不能表述为已实现增长或已确认订单。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中期背景偏正面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2026预测：+9%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2029预测：806千台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BPI产能决策仍须基于客户RFQ和采购合同，而非宏观预测。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区域需求分化：亚洲扩大，欧洲回落，美洲恢复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2021—2025工业机器人安装量；单位：千台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p13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三个区域不是全球完整合计；其他地区未在柱形序列展示。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区域不同步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2025亚洲457千台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欧洲73千台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美洲57千台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海外选市场应同时看应用、设计权和供应商准入。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市场份额对比：亚洲占2025工业机器人安装的76%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份额分母：全球工业机器人当年安装量；不是电池市场或品牌份额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p13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整数份额为IFR公开图表值，含四舍五入。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77724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份额与海外策略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亚洲76%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欧洲12% / 美洲9%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其他3%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BPI海外业务不应按区域安装份额直接分配销售目标。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海外工业需求量：美国、日本、韩国、德国领先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2025安装量｜TOP10中除中国大陆外的市场；单位：千台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p14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中国大陆354.2千台作供应/竞争背景单列；各市场数字为图示近似值。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重点看采购可达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美国38.4千台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日本36.2千台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韩国30.2千台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德国24.8千台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仍需筛选电池供电平台，不能把固定臂计入电池客户池。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增长率对比：美国+12%，日本−19%，新加坡+26%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2025工业需求同比｜单位：%；柱长为增/降幅绝对值，方向见类别与图例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p14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这是安装量同比，不能当作当地具身机器人或机器人电池市场同比。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规模与增速并看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美国：规模较大且增长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新加坡：增速高，基数较小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日本/德国：不能只凭成熟市场标签配置资源。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主要国家需求量对比：美国恢复，日本明显下降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2024与2025工业安装；单位：千台；使用各年度IFR公开资料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来源：D01；D10 p14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2024值来自World Robotics2025公开资料；2025来自2026批次，可能有修订与四舍五入。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BPI资源分配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先核查美国的移动化项目。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日本/德国持续开发，但按实际RFQ推进，避免按宏观历史排名压货。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应用需求量对比：物流领先，清洁位居第三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2025专业服务机器人销量｜同一238家供应商调查样本；单位：台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p28–29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样本不外推全行业；酒店/接待包含引导、信息与远程呈现等，不仅餐饮配送。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BPI优先方向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物流117,488台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清洁44,644台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先核查移动底盘、充电与电池设计权；不是所有样本机器人都匹配BPI。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增长率对比：检查维护+83%，清洁+40%，物流+21%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2025较2024同比｜仅使用IFR2026同一调查批次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p30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不拼接World Robotics2025与2026服务样本；样本构成每年变化。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高增长的新入口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检查维护增长最快，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但数量仅6,467台。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清洁兼具较大数量与高增长；物流数量最大。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增长量对比：物流新增规模大于检查维护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按2025销量与IFR公布同比反推的可比增量；单位：台，约数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p29–30；计算见Excel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推导：增量=N2025−N2025/(1+同比)。同比经过四舍五入，此图不是原始2024销量统计。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增速≠增量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物流反推约+20,390台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清洁约+12,755台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检查维护约+2,933台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仅作规模比较，不视为精确实绩。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应用市场份额：物流47%，清洁18%，合计约65%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份额分母：2025专业服务机器人调查样本；不是全行业或品牌份额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p29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原始图表样本合计249,568台；IFR整数份额存在四舍五入。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04672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支持两条路线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物流：定制移动电池组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清洁：循环与充电协同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酒店/接待22%，需再筛真实电池应用。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机会矩阵：同时看需求量和增速，而非单独看热度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横轴：2025样本销量/千台；纵轴：同批次同比/%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p29–30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点位置为统计事实；BPI开发优先级属于战略判断，未量化电池外采比例。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45920"/>
          <a:ext cx="7955279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开发顺序建议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物流：大数量、正增长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清洁：数量与增速兼具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巡检维护：小量高增长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最后以采购设计权与技术匹配筛选。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人形窄口径：约7,000台，不能把研发机与产能计划相加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2025全尺寸 &gt;140 cm；面向专业/商业用途，排除R&amp;D与娱乐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来源：D07；D10 p32–33；D12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≈7,000台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3288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全尺寸人形销量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07791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IFR定义的专业商业用途窄口径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0195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174家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3288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IFR识别制造商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07791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超过50%在中国；不是销量份额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1.32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3288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Unitree G1高度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907791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低于140 cm，不计入上述7,000口径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31920"/>
            <a:ext cx="106070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02D43"/>
                </a:solidFill>
                <a:latin typeface="Microsoft YaHei"/>
              </a:defRPr>
            </a:pPr>
            <a:r>
              <a:t>因此，不用7,000台作所有人形机器人品牌份额的分母。</a:t>
            </a:r>
          </a:p>
          <a:p>
            <a:pPr>
              <a:spcAft>
                <a:spcPts val="700"/>
              </a:spcAft>
              <a:defRPr sz="2100" b="1">
                <a:solidFill>
                  <a:srgbClr val="102D43"/>
                </a:solidFill>
                <a:latin typeface="Microsoft YaHei"/>
              </a:defRPr>
            </a:pPr>
            <a:r>
              <a:t>BPI可做研发与小型平台客户，但这些需求应单独计算，不能扩大IFR定义。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长期人形预测：2035目标上修，但并非已实现增长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Goldman Sachs于2024年发表的预测；金额：十亿美元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来源：D03（2024-02-27）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同一2035目标年的预测修订：6→38；不是历史市场收入增长，也不是2026最新预测。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只用于长期背景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2035预测TAM：$38bn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2030出货预测：&gt;25万台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2035：约140万台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预测口径与IFR2025窄口径不能直接连接为增长曲线。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供应商份额对比：中国本土份额55%，不是品牌全球份额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中国工业机器人市场：本土/外资供应商结构；单位：%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来源：D01；D06；D10 p15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只有供应商来源结构可核验；本版不制作缺少统一出货分母的企业份额饼图。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份额变化看分母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2025中国市场安装+20%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本土安装增长约15%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份额反而下降2个百分点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增长与市场份额变化不是同一指标。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主要厂商比较：看商业阶段与电池采购开放度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公开证据有不同口径，不能排成销量或份额榜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来源：D12–D14；D17、D26–D29；S01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91640"/>
          <a:ext cx="10972800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108960"/>
                <a:gridCol w="2926080"/>
                <a:gridCol w="3291840"/>
              </a:tblGrid>
              <a:tr h="75346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已取得的量化证据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商业/采购含义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BPI调查方向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Figure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F.03产出&gt;350；电池包&gt;500</a:t>
                      </a:r>
                    </a:p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2026-04厂商自述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含研发与内部使用；非外售量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自有电池线；准入/二供开放度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Agility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官网累计65,000小时</a:t>
                      </a:r>
                    </a:p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Digit 5仍在开发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累计工况；不是机器人销量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运行/充电、服务、供应链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Unitree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G1 9 Ah；Go2 8/15 Ah</a:t>
                      </a:r>
                    </a:p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B2 45 Ah/2250 Wh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有产品参数；本轮未核验销量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海外渠道与出口整机配套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7534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Boston Dynamics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Spot公开电池600 Wh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规格证据；不证明份额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回充、快换与授权二供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真实部署案例：Figure在BMW的任务量与运行数据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F.02项目，2025-11-19厂商发布；非独立审计，不代表市场份额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来源：D26；D27（2026-06-30）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4767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90,000+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7860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装载零件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厂商累计项目数据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94767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1,250+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7860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运行时间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5351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不是单包续航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8308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4767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30,000+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7860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参与生产车辆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95351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不是机器人交付量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1060704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02D43"/>
                </a:solidFill>
                <a:latin typeface="Microsoft YaHei"/>
              </a:defRPr>
            </a:pPr>
            <a:r>
              <a:t>2026年6月：F.03重返BMW，演示排序与移动操作流程。</a:t>
            </a:r>
          </a:p>
          <a:p>
            <a:pPr>
              <a:spcAft>
                <a:spcPts val="700"/>
              </a:spcAft>
              <a:defRPr sz="2000" b="0">
                <a:solidFill>
                  <a:srgbClr val="102D43"/>
                </a:solidFill>
                <a:latin typeface="Microsoft YaHei"/>
              </a:defRPr>
            </a:pPr>
            <a:r>
              <a:t>BPI价值：按真实动作谱验证行走＋操作并发功率、热行为和回充；不以整班工时承诺单包续航。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Figure电池生产案例：数量和一次通过率都影响采购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2026-04-29厂商自述｜产出包括研发、数据采集与商业用例开发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来源：D28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&gt;350机器人与&gt;500电池包均为下限，不据此计算每台精确配包比。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&gt;500包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已出电池包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1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自有电池产线；未说明外采开放度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0195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99.3%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3288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电池线一次通过率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907791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厂商自述，不是BPI实测或通用标准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737360"/>
            <a:ext cx="3429000" cy="160020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901952"/>
            <a:ext cx="315468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007F86"/>
                </a:solidFill>
                <a:latin typeface="Microsoft YaHei"/>
              </a:defRPr>
            </a:pPr>
            <a:r>
              <a:t>&gt;350台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532888"/>
            <a:ext cx="3154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D43"/>
                </a:solidFill>
                <a:latin typeface="Microsoft YaHei"/>
              </a:defRPr>
            </a:pPr>
            <a:r>
              <a:t>F.03机器人产出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07791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不是全部向外部客户销售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31920"/>
            <a:ext cx="10607040" cy="1261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02D43"/>
                </a:solidFill>
                <a:latin typeface="Microsoft YaHei"/>
              </a:defRPr>
            </a:pPr>
            <a:r>
              <a:t>电池供应必须提供一致性、EOL测试、批次追溯与变更控制。</a:t>
            </a:r>
          </a:p>
          <a:p>
            <a:pPr>
              <a:spcAft>
                <a:spcPts val="700"/>
              </a:spcAft>
              <a:defRPr sz="2000" b="1">
                <a:solidFill>
                  <a:srgbClr val="102D43"/>
                </a:solidFill>
                <a:latin typeface="Microsoft YaHei"/>
              </a:defRPr>
            </a:pPr>
            <a:r>
              <a:t>头部企业可能自制或绑定电池线；BPI需先核验第二供应源、技术合作或配套机会。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产品电池容量对比：9 Ah人形、8/15 Ah小四足、45 Ah工业四足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已读取厂商参数；仅比较Ah维度，不代表能量、续航或性能排名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来源：D12–D14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不同电压下Ah不可直接代表能量；必须另行核验标称电压与整机工况。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范围来自真实案例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小型平台与工业平台差异大。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BPI不能用一套容量/结构覆盖所有机器人；优先平台共研。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公开能量对比：Spot 600 Wh，B2 2250 Wh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两个平台的官方公开值；不代表全行业容量分布或同工况续航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来源：S01；D14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B2官网同时列58 V与45 Ah：不把58 V当标称值相乘，保留原始2250 Wh。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能量与架构匹配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公开能量相差约3.75倍。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B2面向较重工业平台；重量、热、快换和电流与容量同样重要。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电压、容量与续航：不把充电器电压写成标称电压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产品案例参数；工况与版本不同，续航不能作为同条件排名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来源：D12–D14；S01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91640"/>
          <a:ext cx="10972800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337560"/>
                <a:gridCol w="2880360"/>
                <a:gridCol w="3566160"/>
              </a:tblGrid>
              <a:tr h="75346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电压原文口径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容量/能量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公开续航与边界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G1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13串锂电；充电器54 V/5 A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9 Ah；未公开可直接引用Wh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约2 h；不是IFR全尺寸口径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Go2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工作28–33.6 V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标准8 Ah / 长续航15 Ah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约1–2 h / 2–4 h，按版本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B2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官网列电压58 V</a:t>
                      </a:r>
                    </a:p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未说明是否标称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45 Ah / 2250 Wh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负载20 kg连续行走&gt;4 h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7534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Spot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电池工作35–58.8 V</a:t>
                      </a:r>
                    </a:p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母线钳位上限72 V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600 Wh；未直接列标称Ah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本次所读接口未给续航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BPI产品组合：LiFePO4轮式路线＋轻量高功率路线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方案建议；并非已认证或可直接替换原厂的产品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来源：D12–D14；S01、S02；BPI工程建议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91640"/>
          <a:ext cx="10972800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063240"/>
                <a:gridCol w="3474720"/>
                <a:gridCol w="2514600"/>
              </a:tblGrid>
              <a:tr h="94183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路线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目标场景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应证明的能力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交付单元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LiFePO4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重量允许的轮式移动操作</a:t>
                      </a:r>
                    </a:p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物流/清洁等相邻平台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循环、低温、充电窗、全电压</a:t>
                      </a:r>
                    </a:p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整机通信与安全状态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电芯＋BMS＋结构＋充电兼容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锂聚合物 / 高能量锂离子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空间与重量约束明显的动态平台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脉冲电流、热、膨胀、冲击</a:t>
                      </a:r>
                    </a:p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回充与快换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联合选型＋实测报告＋追溯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智能电池组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OEM、有设计权的集成商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SOC、电流、温度、故障、协议</a:t>
                      </a:r>
                    </a:p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EOL、固件变更与服务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付费NRE＋样机＋整机验证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机器人出口额对比：日本、中国、德国居可用数据前列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2025 HS847950；世界伙伴；单位：百万美元；79个H6可用报告国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来源：T05；D21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HS2022(H6)，不含区域汇总；可用报告国排序不是完整全球榜，也不等于具身机器人出货。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供应与合作节点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日本：1,789.5百万美元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中国：824.1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德国：638.7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整机出口不证明电池外采开放，需逐OEM验证。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机器人进口额对比：美国、德国是重要海外节点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2025 HS847950；单位：百万美元；107个H6可用报告国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来源：T06；D21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中国849.7百万美元作参照；图示海外前列，不代表所有形态机器人或最终消费。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进口商不是设计方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美国：651.0百万美元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德国：467.6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找进口整机商时同步确认电池设计权、售后责任和采购主体。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贸易增长对比：日本与中国出口增加，丹麦下降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HS847950出口额同比｜同国/H6；单位%；柱长为增/降幅绝对值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来源：T05、T07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同比由UN Comtrade原始金额计算；更新与报告国覆盖不完整，不代表全市场同比。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增长要看编码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贸易增长受价格、产品组合、转口与报送变化影响。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不能将出口金额增速当作机器人电池需求增速。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锂离子电池出口：大市场背景，不能当机器人电池TAM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2025 HS850760；单位：十亿美元；102个H6可用报告国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来源：T09；D21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编码覆盖大量EV、储能和其他用途；中国76.75十亿美元单列，未画在同尺度柱图。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中国出口背景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中国：76.75十亿美元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电池贸易说明供应能力与跨境渠道，无法靠该编码拆出机器人用途。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锂离子电池进口：德国与美国金额明显领先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2025 HS850760；单位：十亿美元；111个H6可用报告国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来源：T10；D21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机器人用途占比未知；原产地、贸易壁垒、认证与危险品运输逐项目核查。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区域与客户结合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德国28.83十亿美元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美国20.08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仅作锂电贸易背景，BPI目标需回到机器人客户BOM与RFQ。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出口数量对比：海关件数不是机器人在役安装量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2025 HS847950｜本图仅选数量单位为件且非估算的三个报告国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来源：T05；D23（数量单位）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96128"/>
            <a:ext cx="1097280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Germany等数量存在估算标识，未混入本图；海关件数不等于独立市场出货/在役台数。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554480"/>
          <a:ext cx="8183879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034272" y="1737360"/>
            <a:ext cx="2606040" cy="3639312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938528"/>
            <a:ext cx="2267712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7F86"/>
                </a:solidFill>
                <a:latin typeface="Microsoft YaHei"/>
              </a:defRPr>
            </a:pPr>
            <a:r>
              <a:t>数量与金额不能混用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2761488"/>
            <a:ext cx="2267712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中国134,939件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日本131,805件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美国10,456件</a:t>
            </a: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102D43"/>
                </a:solidFill>
                <a:latin typeface="Microsoft YaHei"/>
              </a:defRPr>
            </a:pPr>
            <a:r>
              <a:t>规格与价格组合不同；不据此推算电池包数。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客户开发顺序：美国/欧洲项目优先，亚洲按匹配拓展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战略判断｜综合需求、增长和采购可达性，不是机械套用贸易排名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来源：D10 p14；T05–T10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91640"/>
          <a:ext cx="10972800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108960"/>
                <a:gridCol w="3200400"/>
                <a:gridCol w="3017520"/>
              </a:tblGrid>
              <a:tr h="75346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区域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量化背景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目标客户/应用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切入条件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美国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工业38.4千台/+12%</a:t>
                      </a:r>
                    </a:p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机器人进口$651.0m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移动操作OEM、物流集成商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真实RFQ、设计权、服务责任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欧洲/德国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德国工业24.8千台/−8%</a:t>
                      </a:r>
                    </a:p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机器人进口$467.6m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移动底盘、巡检、清洁平台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电池接口、验证与生命周期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日本/韩国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日本36.2/−19%；韩国30.2/−1%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OEM、技术伙伴、第二供应源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质量/变更审核、准入开放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7534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东南亚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新加坡工业4.6千台/+26%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有现场交付能力的集成商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转口与终端使用、备件覆盖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客户画像：设计权、签约权、运行数据要连起来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建议筛选规则｜真实付费25、设计开放25、技术匹配20、采购15、服务15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来源：BPI分析建议；技术背景S02、S04、S08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91640"/>
          <a:ext cx="10972800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3291840"/>
                <a:gridCol w="3017520"/>
              </a:tblGrid>
              <a:tr h="75346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客户类型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关键决策人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最需要的证据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BPI提案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OEM / 品牌方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电气、系统、质量、采购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负载谱、设计冻结、量产/付款主体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付费NRE、共同验收与追溯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系统集成商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电气与项目交付负责人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原厂授权、系统安全与现场工况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定制包＋整机联调＋服务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分销/服务商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授权服务与产品团队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合法兼容、备件需求、库存责任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授权备件与售后计划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75346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最终运营方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设备、运营、EHS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在役/扩容、故障与更换数据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经OEM共同改进与验证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BPI收入测算：从客户项目出发，不假设全球份额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纯商业示例｜所有输入人为假设；不是真实需求、报价或业绩预测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来源：模型M01；计算见Excel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1261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07F86"/>
                </a:solidFill>
                <a:latin typeface="Microsoft YaHei"/>
              </a:defRPr>
            </a:pPr>
            <a:r>
              <a:t>1,000台 × 1包/台 × 1.30备包系数</a:t>
            </a:r>
          </a:p>
          <a:p>
            <a:pPr>
              <a:spcAft>
                <a:spcPts val="700"/>
              </a:spcAft>
              <a:defRPr sz="2800" b="1">
                <a:solidFill>
                  <a:srgbClr val="007F86"/>
                </a:solidFill>
                <a:latin typeface="Microsoft YaHei"/>
              </a:defRPr>
            </a:pPr>
            <a:r>
              <a:t>× 400美元/包 × 50%BPI份额 ＝ 260,000美元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069848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02D43"/>
                </a:solidFill>
                <a:latin typeface="Microsoft YaHei"/>
              </a:defRPr>
            </a:pPr>
            <a:r>
              <a:t>必须用经客户确认的交付、外采、包数与成交价替换假设。</a:t>
            </a:r>
          </a:p>
          <a:p>
            <a:pPr>
              <a:spcAft>
                <a:spcPts val="700"/>
              </a:spcAft>
              <a:defRPr sz="1900" b="0">
                <a:solidFill>
                  <a:srgbClr val="102D43"/>
                </a:solidFill>
                <a:latin typeface="Microsoft YaHei"/>
              </a:defRPr>
            </a:pPr>
            <a:r>
              <a:t>替换包按在役年龄和真实更换率另算；不能重复计入新机备包。</a:t>
            </a:r>
          </a:p>
          <a:p>
            <a:pPr>
              <a:spcAft>
                <a:spcPts val="700"/>
              </a:spcAft>
              <a:defRPr sz="1900" b="0">
                <a:solidFill>
                  <a:srgbClr val="102D43"/>
                </a:solidFill>
                <a:latin typeface="Microsoft YaHei"/>
              </a:defRPr>
            </a:pPr>
            <a:r>
              <a:t>项目贡献还需扣除开发、认证、物流、服务与质保准备。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30 / 90 / 180天：把数据机会转成可验收项目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建议目标，不是既有订单；启动后90/180天可能跨入2027年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来源：BPI建议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429000" cy="361188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38528"/>
            <a:ext cx="3063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07F86"/>
                </a:solidFill>
                <a:latin typeface="Microsoft YaHei"/>
              </a:defRPr>
            </a:pPr>
            <a:r>
              <a:t>30天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97480"/>
            <a:ext cx="30632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02D43"/>
                </a:solidFill>
                <a:latin typeface="Microsoft YaHei"/>
              </a:defRPr>
            </a:pPr>
            <a:r>
              <a:t>20候选 / 8访谈 / 3需求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611880"/>
            <a:ext cx="306324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02D43"/>
                </a:solidFill>
                <a:latin typeface="Microsoft YaHei"/>
              </a:defRPr>
            </a:pPr>
            <a:r>
              <a:t>市场与贸易来源审计</a:t>
            </a:r>
          </a:p>
          <a:p>
            <a:pPr>
              <a:spcAft>
                <a:spcPts val="700"/>
              </a:spcAft>
              <a:defRPr sz="1700" b="0">
                <a:solidFill>
                  <a:srgbClr val="102D43"/>
                </a:solidFill>
                <a:latin typeface="Microsoft YaHei"/>
              </a:defRPr>
            </a:pPr>
            <a:r>
              <a:t>内部能力/成本差距</a:t>
            </a:r>
          </a:p>
          <a:p>
            <a:pPr>
              <a:spcAft>
                <a:spcPts val="700"/>
              </a:spcAft>
              <a:defRPr sz="1700" b="0">
                <a:solidFill>
                  <a:srgbClr val="102D43"/>
                </a:solidFill>
                <a:latin typeface="Microsoft YaHei"/>
              </a:defRPr>
            </a:pPr>
            <a:r>
              <a:t>确认设计权与采购主体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361188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38528"/>
            <a:ext cx="3063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07F86"/>
                </a:solidFill>
                <a:latin typeface="Microsoft YaHei"/>
              </a:defRPr>
            </a:pPr>
            <a:r>
              <a:t>90天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0632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02D43"/>
                </a:solidFill>
                <a:latin typeface="Microsoft YaHei"/>
              </a:defRPr>
            </a:pPr>
            <a:r>
              <a:t>2项目 / 争取1付费协议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306324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02D43"/>
                </a:solidFill>
                <a:latin typeface="Microsoft YaHei"/>
              </a:defRPr>
            </a:pPr>
            <a:r>
              <a:t>规格冻结、NRE与样机</a:t>
            </a:r>
          </a:p>
          <a:p>
            <a:pPr>
              <a:spcAft>
                <a:spcPts val="700"/>
              </a:spcAft>
              <a:defRPr sz="1700" b="0">
                <a:solidFill>
                  <a:srgbClr val="102D43"/>
                </a:solidFill>
                <a:latin typeface="Microsoft YaHei"/>
              </a:defRPr>
            </a:pPr>
            <a:r>
              <a:t>脉冲/回充/热/结构/通信</a:t>
            </a:r>
          </a:p>
          <a:p>
            <a:pPr>
              <a:spcAft>
                <a:spcPts val="700"/>
              </a:spcAft>
              <a:defRPr sz="1700" b="0">
                <a:solidFill>
                  <a:srgbClr val="102D43"/>
                </a:solidFill>
                <a:latin typeface="Microsoft YaHei"/>
              </a:defRPr>
            </a:pPr>
            <a:r>
              <a:t>达到双方约定验收条件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737360"/>
            <a:ext cx="3429000" cy="3611880"/>
          </a:xfrm>
          <a:prstGeom prst="round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938528"/>
            <a:ext cx="30632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007F86"/>
                </a:solidFill>
                <a:latin typeface="Microsoft YaHei"/>
              </a:defRPr>
            </a:pPr>
            <a:r>
              <a:t>180天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697480"/>
            <a:ext cx="30632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02D43"/>
                </a:solidFill>
                <a:latin typeface="Microsoft YaHei"/>
              </a:defRPr>
            </a:pPr>
            <a:r>
              <a:t>至少1整机验证或整改闭环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611880"/>
            <a:ext cx="306324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02D43"/>
                </a:solidFill>
                <a:latin typeface="Microsoft YaHei"/>
              </a:defRPr>
            </a:pPr>
            <a:r>
              <a:t>采购与供应商审核</a:t>
            </a:r>
          </a:p>
          <a:p>
            <a:pPr>
              <a:spcAft>
                <a:spcPts val="700"/>
              </a:spcAft>
              <a:defRPr sz="1700" b="0">
                <a:solidFill>
                  <a:srgbClr val="102D43"/>
                </a:solidFill>
                <a:latin typeface="Microsoft YaHei"/>
              </a:defRPr>
            </a:pPr>
            <a:r>
              <a:t>小批、备件与现场服务</a:t>
            </a:r>
          </a:p>
          <a:p>
            <a:pPr>
              <a:spcAft>
                <a:spcPts val="700"/>
              </a:spcAft>
              <a:defRPr sz="1700" b="0">
                <a:solidFill>
                  <a:srgbClr val="102D43"/>
                </a:solidFill>
                <a:latin typeface="Microsoft YaHei"/>
              </a:defRPr>
            </a:pPr>
            <a:r>
              <a:t>订单性质与项目经济性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管理层决策：批准验证资源，扩产服从项目关口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数据支持方向判断；BPI机器人适配、认证与优势仍需内部证明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来源：D07、D10；BPI战略判断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91640"/>
          <a:ext cx="10972800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572000"/>
                <a:gridCol w="4846320"/>
              </a:tblGrid>
              <a:tr h="75346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管理事项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建议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进入下一阶段的证据</a:t>
                      </a:r>
                    </a:p>
                  </a:txBody>
                  <a:tcPr marT="54864" marB="54864" marL="109728" marR="109728" anchor="ctr">
                    <a:solidFill>
                      <a:srgbClr val="102D43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方向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移动/物流/清洁智能包优先</a:t>
                      </a:r>
                    </a:p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巡检与人形联合开发并行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RFQ、负载谱与电池设计开放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两条电芯路线＋共用BMS/追溯框架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倍率、热、结构、回充、通信与EOL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  <a:tr h="753465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商业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开发费、包价与服务责任分开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绑定采购、可接受贡献与服务预算</a:t>
                      </a:r>
                    </a:p>
                  </a:txBody>
                  <a:tcPr marT="54864" marB="54864" marL="109728" marR="109728" anchor="ctr">
                    <a:solidFill>
                      <a:srgbClr val="EFF5F7"/>
                    </a:solidFill>
                  </a:tcPr>
                </a:tc>
              </a:tr>
              <a:tr h="75346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产能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按阶段投入，不追逐宣传量产计划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3C50"/>
                          </a:solidFill>
                          <a:latin typeface="Microsoft YaHei"/>
                        </a:defRPr>
                      </a:pPr>
                      <a:r>
                        <a:t>整机验收、真实采购与供应保障</a:t>
                      </a:r>
                    </a:p>
                  </a:txBody>
                  <a:tcPr marT="54864" marB="54864"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来源与口径附录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标题可点击打开原始来源；完整URL、哈希与贸易原始值见配套Excel和reports/data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来源：公开来源；读取2026-10-13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3"/>
              </a:rPr>
              <a:t>D01  ifr.org/ifr-press-releases/news/global-robot-demand-in-factories-doubles-over-10-years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4"/>
              </a:rPr>
              <a:t>D03  www.goldmansachs.com/insights/articles/the-global-market-for-robots-could-reach-38-billion-by-2035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05456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5"/>
              </a:rPr>
              <a:t>D06  ifr.org/ifr-press-releases/news/five-million-robots-now-operate-in-factories-globally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6"/>
              </a:rPr>
              <a:t>D07  ifr.org/ifr-press-releases/news/global-sales-of-professional-service-robots-surge-24-percent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38144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7"/>
              </a:rPr>
              <a:t>D08  ifr.org/ifr-press-releases/news/top-5-global-robotics-trends-2026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04487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8"/>
              </a:rPr>
              <a:t>D10  ifr.org/downloads/press_docs/Market_Presentation_WR_Press_Conference_2026.pdf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70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9"/>
              </a:rPr>
              <a:t>D12  www.unitree.com/g1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37176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10"/>
              </a:rPr>
              <a:t>D13  www.unitree.com/go2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同批次服务样本238家；贸易只保留H6和非区域汇总；企业数据明确标注厂商自述。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来源与口径附录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标题可点击打开原始来源；完整URL、哈希与贸易原始值见配套Excel和reports/data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来源：公开来源；读取2026-10-13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3"/>
              </a:rPr>
              <a:t>D14  www.unitree.com/b2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4"/>
              </a:rPr>
              <a:t>D17  www.agilityrobotics.com/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05456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5"/>
              </a:rPr>
              <a:t>D21  comtradeapi.un.org/files/v1/app/reference/Reporters.json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6"/>
              </a:rPr>
              <a:t>D23  comtradeapi.un.org/files/v1/app/reference/QuantityUnits.json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38144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7"/>
              </a:rPr>
              <a:t>D26  www.figure.ai/news/production-at-bmw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04487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8"/>
              </a:rPr>
              <a:t>D27  www.figure.ai/news/f-03-at-bmw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70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9"/>
              </a:rPr>
              <a:t>D28  www.figure.ai/news/ramping-figure-03-production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37176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10"/>
              </a:rPr>
              <a:t>T06  comtradeapi.un.org/public/v1/preview/C/A/HS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同批次服务样本238家；贸易只保留H6和非区域汇总；企业数据明确标注厂商自述。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0996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D43"/>
                </a:solidFill>
                <a:latin typeface="Microsoft YaHei"/>
              </a:defRPr>
            </a:pPr>
            <a:r>
              <a:t>来源与口径附录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96696"/>
            <a:ext cx="110185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17484"/>
                </a:solidFill>
                <a:latin typeface="Microsoft YaHei"/>
              </a:defRPr>
            </a:pPr>
            <a:r>
              <a:t>标题可点击打开原始来源；完整URL、哈希与贸易原始值见配套Excel和reports/data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99048"/>
            <a:ext cx="11064240" cy="10972"/>
          </a:xfrm>
          <a:prstGeom prst="rect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208776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17484"/>
                </a:solidFill>
                <a:latin typeface="Microsoft YaHei"/>
              </a:defRPr>
            </a:pPr>
            <a:r>
              <a:t>来源：公开来源；读取2026-10-13  |  研究日期：2026-10-13  |  2026预测与2025实绩分列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245352"/>
            <a:ext cx="411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17484"/>
                </a:solidFill>
                <a:latin typeface="Microsoft YaHei"/>
              </a:defRPr>
            </a:pPr>
            <a: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3"/>
              </a:rPr>
              <a:t>T07  comtradeapi.un.org/public/v1/preview/C/A/HS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4"/>
              </a:rPr>
              <a:t>T08  comtradeapi.un.org/public/v1/preview/C/A/HS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05456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5"/>
              </a:rPr>
              <a:t>T09  comtradeapi.un.org/public/v1/preview/C/A/HS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6"/>
              </a:rPr>
              <a:t>T10  comtradeapi.un.org/public/v1/preview/C/A/HS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38144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7"/>
              </a:rPr>
              <a:t>T05  comtradeapi.un.org/public/v1/preview/C/A/HS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04487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8"/>
              </a:rPr>
              <a:t>S01  raw.githubusercontent.com/boston-dynamics/spot-sdk/04537ddafe0641d1751af3eb9e76cb785fc18594/docs/pa…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70832"/>
            <a:ext cx="108813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007F86"/>
                </a:solidFill>
                <a:latin typeface="Microsoft YaHei"/>
              </a:defRPr>
            </a:pPr>
            <a:r>
              <a:rPr>
                <a:hlinkClick r:id="rId9"/>
              </a:rPr>
              <a:t>S02  raw.githubusercontent.com/boston-dynamics/spot-sdk/04537ddafe0641d1751af3eb9e76cb785fc18594/protos/…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94960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17484"/>
                </a:solidFill>
                <a:latin typeface="Microsoft YaHei"/>
              </a:defRPr>
            </a:pPr>
            <a:r>
              <a:t>同批次服务样本238家；贸易只保留H6和非区域汇总；企业数据明确标注厂商自述。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2026海外具身机器人市场机会｜BPI数据增强版</dc:title>
  <dc:subject>可编辑数据图表：需求量、增长量、份额、贸易与电池参数</dc:subject>
  <dc:creator>BPI Overseas Market Research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