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2" r:id="rId23"/>
    <p:sldId id="260" r:id="rId11"/>
    <p:sldId id="261" r:id="rId12"/>
    <p:sldId id="262" r:id="rId13"/>
    <p:sldId id="263" r:id="rId14"/>
    <p:sldId id="264" r:id="rId15"/>
    <p:sldId id="273" r:id="rId24"/>
    <p:sldId id="274" r:id="rId25"/>
    <p:sldId id="265" r:id="rId16"/>
    <p:sldId id="266" r:id="rId17"/>
    <p:sldId id="276" r:id="rId27"/>
    <p:sldId id="267" r:id="rId18"/>
    <p:sldId id="275" r:id="rId26"/>
    <p:sldId id="268" r:id="rId19"/>
    <p:sldId id="277" r:id="rId28"/>
    <p:sldId id="269" r:id="rId20"/>
    <p:sldId id="270" r:id="rId21"/>
    <p:sldId id="271" r:id="rId22"/>
    <p:sldId id="278" r:id="rId29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S01 https://raw.githubusercontent.com/boston-dynamics/spot-sdk/04537ddafe0641d1751af3eb9e76cb785fc18594/docs/payload/robot_electrical_interface.md</a:t>
            </a:r>
          </a:p>
          <a:p>
            <a:r>
              <a:t>SHA256: 491fbf52bfcaa796a533b6bd713b1992f33363db1593d6a1920316088d8c35aa</a:t>
            </a:r>
          </a:p>
          <a:p>
            <a:r>
              <a:t>S02 https://raw.githubusercontent.com/boston-dynamics/spot-sdk/04537ddafe0641d1751af3eb9e76cb785fc18594/protos/bosdyn/api/robot_state.proto</a:t>
            </a:r>
          </a:p>
          <a:p>
            <a:r>
              <a:t>SHA256: 678766f6928b568cc7857b328bb32319a866feed10b3ea74954107fd3b2840c3</a:t>
            </a:r>
          </a:p>
          <a:p>
            <a:r>
              <a:t>S03 https://raw.githubusercontent.com/unitreerobotics/unitree_ros2/668d1ec5a05d1c38d3306bdca7d59f2ba3581a88/README.md</a:t>
            </a:r>
          </a:p>
          <a:p>
            <a:r>
              <a:t>SHA256: 975d8a29d4904dc6d3d0f72fd9119afed57b0b193a7a2d26d5211bc6b8858831</a:t>
            </a:r>
          </a:p>
          <a:p>
            <a:r>
              <a:t>S04 https://raw.githubusercontent.com/unitreerobotics/unitree_ros2/668d1ec5a05d1c38d3306bdca7d59f2ba3581a88/cyclonedds_ws/src/unitree/unitree_go/msg/BmsState.msg</a:t>
            </a:r>
          </a:p>
          <a:p>
            <a:r>
              <a:t>SHA256: 0f7ad8e09f8fd02999da9aa222ab0ecb848d9f70136af78a5ec7a10631959828</a:t>
            </a:r>
          </a:p>
          <a:p>
            <a:r>
              <a:t>S05 https://raw.githubusercontent.com/Physical-Intelligence/openpi/215abfb217dbac7d5f1273282331b9b1866c0479/README.md</a:t>
            </a:r>
          </a:p>
          <a:p>
            <a:r>
              <a:t>SHA256: 567fc57766bd736664f50126cab8145af4071ca16cc5e238f2b11e369169c3b5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S06 https://raw.githubusercontent.com/google-deepmind/open_x_embodiment/9eeb68b989efbcf474e8fb9019e01d02b962a604/README.md</a:t>
            </a:r>
          </a:p>
          <a:p>
            <a:r>
              <a:t>SHA256: e7dbf6bb04559e981b7eab2e0f4510579bf82b09948a0fe6471ba1794f86ae59</a:t>
            </a:r>
          </a:p>
          <a:p>
            <a:r>
              <a:t>S07 https://raw.githubusercontent.com/UniversalRobots/Universal_Robots_ROS2_Driver/7e031424bc7a3e590d65fe297214ac21e1f9ffdd/README.md</a:t>
            </a:r>
          </a:p>
          <a:p>
            <a:r>
              <a:t>SHA256: d98964230fa189502feeb400891ca543c2ef597949ed30814f6a26015a37c7c9</a:t>
            </a:r>
          </a:p>
          <a:p>
            <a:r>
              <a:t>S08 https://raw.githubusercontent.com/husarion/husarion_ugv_ros/559e784b84c05c813b6ecfce02751d8b3966528a/husarion_ugv_battery/README.md</a:t>
            </a:r>
          </a:p>
          <a:p>
            <a:r>
              <a:t>SHA256: 5905be7e9a5f70a79f5bacfc5846a54a326cf940ab8472ba1203e659307a3800</a:t>
            </a:r>
          </a:p>
          <a:p>
            <a:r>
              <a:t>S09 https://raw.githubusercontent.com/datasets/harmonized-system/b1be3f2531a85fb0ea17147b19c41d3641912e43/data/harmonized-system.csv</a:t>
            </a:r>
          </a:p>
          <a:p>
            <a:r>
              <a:t>SHA256: e77ee9e1cfd15a42d1fadeb2c0618d10f6b9ed9aec0e5d66826dc7ef9d3126a5</a:t>
            </a:r>
          </a:p>
          <a:p>
            <a:r>
              <a:t>S10 https://raw.githubusercontent.com/datasets/harmonized-system/b1be3f2531a85fb0ea17147b19c41d3641912e43/README.md</a:t>
            </a:r>
          </a:p>
          <a:p>
            <a:r>
              <a:t>SHA256: 20e4050f75a747514208cf22d8c7f89629cea1f8268556a27dcc894549623f81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w.githubusercontent.com/boston-dynamics/spot-sdk/04537ddafe0641d1751af3eb9e76cb785fc18594/docs/payload/robot_electrical_interface.md" TargetMode="External"/><Relationship Id="rId3" Type="http://schemas.openxmlformats.org/officeDocument/2006/relationships/notesSlide" Target="../notesSlides/notesSlide1.xml"/><Relationship Id="rId4" Type="http://schemas.openxmlformats.org/officeDocument/2006/relationships/hyperlink" Target="https://raw.githubusercontent.com/boston-dynamics/spot-sdk/04537ddafe0641d1751af3eb9e76cb785fc18594/protos/bosdyn/api/robot_state.proto" TargetMode="External"/><Relationship Id="rId5" Type="http://schemas.openxmlformats.org/officeDocument/2006/relationships/hyperlink" Target="https://raw.githubusercontent.com/unitreerobotics/unitree_ros2/668d1ec5a05d1c38d3306bdca7d59f2ba3581a88/README.md" TargetMode="External"/><Relationship Id="rId6" Type="http://schemas.openxmlformats.org/officeDocument/2006/relationships/hyperlink" Target="https://raw.githubusercontent.com/unitreerobotics/unitree_ros2/668d1ec5a05d1c38d3306bdca7d59f2ba3581a88/cyclonedds_ws/src/unitree/unitree_go/msg/BmsState.msg" TargetMode="External"/><Relationship Id="rId7" Type="http://schemas.openxmlformats.org/officeDocument/2006/relationships/hyperlink" Target="https://raw.githubusercontent.com/Physical-Intelligence/openpi/215abfb217dbac7d5f1273282331b9b1866c0479/README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w.githubusercontent.com/google-deepmind/open_x_embodiment/9eeb68b989efbcf474e8fb9019e01d02b962a604/README.md" TargetMode="External"/><Relationship Id="rId3" Type="http://schemas.openxmlformats.org/officeDocument/2006/relationships/notesSlide" Target="../notesSlides/notesSlide2.xml"/><Relationship Id="rId4" Type="http://schemas.openxmlformats.org/officeDocument/2006/relationships/hyperlink" Target="https://raw.githubusercontent.com/UniversalRobots/Universal_Robots_ROS2_Driver/7e031424bc7a3e590d65fe297214ac21e1f9ffdd/README.md" TargetMode="External"/><Relationship Id="rId5" Type="http://schemas.openxmlformats.org/officeDocument/2006/relationships/hyperlink" Target="https://raw.githubusercontent.com/husarion/husarion_ugv_ros/559e784b84c05c813b6ecfce02751d8b3966528a/husarion_ugv_battery/README.md" TargetMode="External"/><Relationship Id="rId6" Type="http://schemas.openxmlformats.org/officeDocument/2006/relationships/hyperlink" Target="https://raw.githubusercontent.com/datasets/harmonized-system/b1be3f2531a85fb0ea17147b19c41d3641912e43/data/harmonized-system.csv" TargetMode="External"/><Relationship Id="rId7" Type="http://schemas.openxmlformats.org/officeDocument/2006/relationships/hyperlink" Target="https://raw.githubusercontent.com/datasets/harmonized-system/b1be3f2531a85fb0ea17147b19c41d3641912e43/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2026 海外具身机器人市场机会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BPI 海外市场经理视角｜管理层战略审议｜全球规模、出货与贸易定量证据尚未齐备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69848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建议进入项目验证阶段</a:t>
            </a:r>
          </a:p>
          <a:p>
            <a:pPr>
              <a:spcAft>
                <a:spcPts val="1000"/>
              </a:spcAft>
              <a:defRPr sz="31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优先智能电池组，按真实客户需求逐级投入</a:t>
            </a:r>
          </a:p>
        </p:txBody>
      </p:sp>
      <p:pic>
        <p:nvPicPr>
          <p:cNvPr id="8" name="Picture 7" descr="验证路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383280"/>
            <a:ext cx="11064240" cy="27434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决策：先验证客户与整机，再安排扩产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战略判断，不是市场容量或订单预测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优先方向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轮式移动操作与工业移动平台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智能电池组 / LiFePO4 评估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传统 AMR 作为相邻市场分列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谨慎投入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人形与动态四足联合开发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锂聚合物须实测功率与结构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量产计划不能视为已交付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本轮批准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能力审查 / 访谈 / 有限样机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取得 RFQ、验收规范和经济性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暂缓缺证支撑的专用产线投资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市场规模与增长：本版不填未经核验的数字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待核验｜研究日为 2026-10-13，全年实际值尚不能确认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P01–P03 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口径边界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核心：移动操作、人形、自主任务四足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相邻：AMR/UGV/服务移动平台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固定臂与软件收入单独处理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必须补齐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全球金额与同比 / CAGR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最新完整年度与2026期间实绩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IFR 与原始研究报告定义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BPI 计算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台数 × 电池供电 × 每台包数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＋备包与分龄替换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SAM 再筛外采、认证与适配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主要区域：围绕可进入的采购项目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建议顺序不是市场规模或贸易排名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美国 / 欧洲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工业移动操作、物流、巡检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找有设计权的 OEM/集成商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核查进口、认证与服务责任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日本 / 韩国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工厂应用、技术平台与巡检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质量、变更控制与供应商准入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第二供应源开放度需确认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东南亚 / 出口OEM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工厂与物流集成渠道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分清转口与最终使用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中国出口整机配套单独管理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应用优先级：让电池解决可测的任务问题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战略建议｜需求规模与采购量尚未核验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移动操作 / 物流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行走＋操作并发负载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自动充电 / 维护 / 备包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先核实全天任务的充电安排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巡检 / 动态平台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脉冲负载、跌倒、密封与温度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回充与整机安全状态联调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危险区要求单独确认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研发 / 家庭应用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研发适合小批定制但不能外推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模型活动不等于量产采购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家庭通用机器人进入观察池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厂商与客户：技术证据不等于采购订单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候选尽调名单，不是已确认客户或出货排名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S01–S08；厂商公告待核验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已读一手技术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Boston Dynamics / Unitree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Husarion / Universal Robots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可验证接口，不可推定销量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待核验人形候选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Agility / Figure / Apptronik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Tesla / 1X / UBTECH / Fourier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核实交付与电池外采开放度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采购通路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OEM / 品牌与代工 / 集成商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运营商可能没有电池设计权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纯模型团队不一定采购电池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出货趋势：区分研究活动、试点和实际部署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事实：公开模型/接口资料存在；市场增长与出货数字未核验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S02–S06、S08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已确认信号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openpi / Open X-Embodiment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公开机器人模型与数据工具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BMS 遥测接口可查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真实采购证据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订单 → 交付 → 验收 → 在役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识别复购、扩容与替换记录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区分绑定与非绑定协议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禁止混用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融资 ≠ 需求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产能 / 计划 ≠ 出货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展示 / 研发 ≠ 量产订单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电池案例：Spot 的公开数值与系统要求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事实｜仅对应官方文件所述平台，不是行业统一规格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S01、S02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能量与电压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600 Wh 锂离子电池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电池工作范围 35–58.8 V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未给可直接引用的标称 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再生与母线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电机再生可抬高母线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资料说明母线钳位上限 72 V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72 V 不是电池标称电压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BPI 设计含义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核查回充、限流与保护配合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电量 / 温度 / 通信状态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不得自动推定内部协议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电压与容量：下列是开发参考，不是统计典型值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工程假设｜必须以客户规格、电芯实测与整机验证替换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动态人形 / 四足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36–60 V 级；10–30 Ah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约 0.36–1.8 kWh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重量 / 峰值 / 跌倒 / 热设计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轮式移动平台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24/48 V 级；20–100 Ah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约 0.48–4.8 kWh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LFP可能为25.6/51.2 V标称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小型 / 辅助电源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小型：12–24 V；5–30 Ah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辅助：3.7–14.8 V；1–10 Ah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先核实独立电池必要性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BPI 产品机会：以电池组为交付单元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工程与战略建议｜不宣称已认证或可直接替代原厂电池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S01、S02、S04、S08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锂聚合物 / 软包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面向空间与重量约束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倍率、膨胀、热、结构实测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软包与LFP不是同一分类维度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LiFePO4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轮式平台优先评估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循环、低温、充电、全电压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不能宣传为没有热风险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智能电池组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电芯＋BMS＋结构＋追溯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通信 / 快换 / 充电协同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报价拆分NRE、包价、服务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贸易：已确认分类线索，金额与排名仍缺证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二手分类数据｜不是报关裁定，不能把宽泛编码视为机器人专属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S09、S10；P04–P07 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编码线索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847950：部分工业机器人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847990：宽泛机械零件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850760：锂离子蓄电池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本版未取得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进出口金额、数量及单位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主要贸易国家排名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2026同期间同比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查询纪律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UN Comtrade / WITS / 国家库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HS版本、CIF/FOB、镜像分开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EU与成员国 / 转口避免重复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客户筛选与切入：谁拥有设计权和付款权？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战略建议｜评分阈值为内部建议，不是经过统计验证的模型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资格筛选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真实付费25 / 设计开放25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技术匹配20 / 采购可达15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质量服务15；≥75建议评审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联合开发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需求与负载谱 → 规格冻结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NRE → 样机 → 整机联调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认证、质保与变更责任明确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经济性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按客户采购计划而非热度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毛利扣除开发、物流与售后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低价不能替代系统匹配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30 / 90 / 180 天行动计划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以下为建议目标；若2026年10月启动，后续周期跨入2027年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0–30 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20候选 / 8有效访谈 / 3需求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补齐市场与贸易证据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内部能力与成本差距审查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31–90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2候选项目；争取1付费协议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规格、样机与台架测试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达到双方约定技术要求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91–180 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至少1整机验证或整改闭环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区分意向与绑定采购订单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质量、备件、售后与量产关口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管理层预算示例：只演示公式，不是收入预测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全部输入人为假设；不是市场规模、客户需求、订单或报价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06984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1,000 台 × 1 包/台 × 1.30 备包系数</a:t>
            </a:r>
          </a:p>
          <a:p>
            <a:pPr>
              <a:spcAft>
                <a:spcPts val="1000"/>
              </a:spcAft>
              <a:defRPr sz="27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× 400 美元/包 × 50% BPI 份额</a:t>
            </a:r>
          </a:p>
          <a:p>
            <a:pPr>
              <a:spcAft>
                <a:spcPts val="1000"/>
              </a:spcAft>
              <a:defRPr sz="27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＝260,000 美元单客户项目收入示例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1069848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实际模型应从客户项目逐项汇总。</a:t>
            </a:r>
          </a:p>
          <a:p>
            <a:pPr>
              <a:spcAft>
                <a:spcPts val="1000"/>
              </a:spcAft>
              <a:defRPr sz="20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未计税费、物流、NRE、质保、开发成本或在役替换。</a:t>
            </a:r>
          </a:p>
          <a:p>
            <a:pPr>
              <a:spcAft>
                <a:spcPts val="1000"/>
              </a:spcAft>
              <a:defRPr sz="20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Excel 给出假设输入和公式，可改为客户核验数据。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当前证据边界与下一次审议关口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可讨论产品与验证资源；不能宣称最终市场容量已核验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10份版本固定的技术/分类来源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电池案例、客户与行动框架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Word / PPT / Excel审议材料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9223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必须补齐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223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IFR/原始研究的规模增长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厂商实际交付与供应准入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贸易金额、数量与国家排名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1" y="1691640"/>
            <a:ext cx="3553968" cy="4160520"/>
          </a:xfrm>
          <a:prstGeom prst="roundRect">
            <a:avLst/>
          </a:prstGeom>
          <a:solidFill>
            <a:srgbClr val="EF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359" y="1856231"/>
            <a:ext cx="324307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继续条件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359" y="2578608"/>
            <a:ext cx="3243072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环境设置保存来源域名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补齐证据后重算SAM/SOM</a:t>
            </a:r>
          </a:p>
          <a:p>
            <a:pPr>
              <a:spcAft>
                <a:spcPts val="1000"/>
              </a:spcAft>
              <a:defRPr sz="17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再审议销售预算与产能投入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来源索引：事实、假设与待核验项目分开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完整固定版本URL、原文及SHA256见Word附录、Excel与source_register.json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9728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S01–S02  Boston Dynamics：Spot 电气接口与电池状态协议</a:t>
            </a:r>
          </a:p>
          <a:p>
            <a:pPr>
              <a:spcAft>
                <a:spcPts val="1000"/>
              </a:spcAft>
              <a:defRPr sz="19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S03–S04  Unitree：ROS2 平台支持与 BMS 状态消息</a:t>
            </a:r>
          </a:p>
          <a:p>
            <a:pPr>
              <a:spcAft>
                <a:spcPts val="1000"/>
              </a:spcAft>
              <a:defRPr sz="19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S05–S06  Physical Intelligence / Google DeepMind：模型与数据资料</a:t>
            </a:r>
          </a:p>
          <a:p>
            <a:pPr>
              <a:spcAft>
                <a:spcPts val="1000"/>
              </a:spcAft>
              <a:defRPr sz="19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S07–S08  Universal Robots / Husarion：接口与电池监测</a:t>
            </a:r>
          </a:p>
          <a:p>
            <a:pPr>
              <a:spcAft>
                <a:spcPts val="1000"/>
              </a:spcAft>
              <a:defRPr sz="19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S09–S10  开放 HS 数据及来源说明（二手；需官方复核）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36592"/>
            <a:ext cx="1097280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P01–P10 为待核验入口，不作为本版数值证据。</a:t>
            </a:r>
          </a:p>
          <a:p>
            <a:pPr>
              <a:spcAft>
                <a:spcPts val="1000"/>
              </a:spcAft>
              <a:defRPr sz="17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所有开发区间、评分、行动KPI与模型输入均为建议或假设。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区域开发重点与进入路径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战略建议｜不是市场规模或贸易排名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3736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3200400"/>
                <a:gridCol w="3474720"/>
              </a:tblGrid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区域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建议验证场景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进入路径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首轮必须确认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美国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移动操作 / 仓储 / 巡检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OEM 与有设计权的集成商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采购主体、准入与现场服务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欧洲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制造 / 移动平台 / 巡检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本地技术合作与集成渠道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EU与英国要求分别核查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日本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工厂 / 研发 / 巡检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技术伙伴与质量审核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变更控制、批次追溯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韩国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制造 / 机器人平台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非绑定项目、第二供应源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是否开放外采设计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东南亚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工厂 / 物流 / 应用开发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有现场交付能力的集成商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转口、终端使用与备件响应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电池体系选择：按任务与平台约束匹配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工程建议｜锂聚合物软包与LiFePO4并非同一分类维度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S01、S02、S04、S08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3736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108960"/>
                <a:gridCol w="3383280"/>
                <a:gridCol w="2651760"/>
              </a:tblGrid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方向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潜在适配场景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验证重点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不应提前承诺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锂聚合物 / 软包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空间或重量受限的动态平台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倍率、膨胀、热、结构保护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所有软包都适合高功率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LiFePO4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重量允许的轮式移动平台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充电窗口、低温、全电压兼容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可直接替换任意48 V平台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智能电池组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有设计权的OEM/集成商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BMS、回充、通信、快换、追溯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未经整机验证即可兼容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辅助电池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独立供电确有必要的模块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切换、安全与模块接口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每个负载都需独立电池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续航换算：以工况输入确定容量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工程假设示例｜不是厂商实测功耗或BPI产品参数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</a:rPr>
              <a:t>500 W × 2 h ÷（80% × 90%）＝1,389 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789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若采用51.2 V方案：1,389 Wh ÷ 51.2 V ≈ 27.1 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6070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人为输入：平均功率500 W、连续任务2 h、放电深度80%、供电效率90%。</a:t>
            </a:r>
          </a:p>
          <a:p>
            <a:pPr>
              <a:spcAft>
                <a:spcPts val="1000"/>
              </a:spcAft>
              <a:defRPr sz="18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还需评估寿命末期衰减、低温、峰值电流、回充、任务余量及整机安装空间。</a:t>
            </a:r>
          </a:p>
          <a:p>
            <a:pPr>
              <a:spcAft>
                <a:spcPts val="1000"/>
              </a:spcAft>
              <a:defRPr sz="1800" b="0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验证目标由客户任务和系统安全架构确定。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客户画像与采购决策链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分析建议｜候选角色不代表已确认客户或需求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3736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2834640"/>
                <a:gridCol w="3474720"/>
              </a:tblGrid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客户角色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谁决定技术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谁决定采购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BPI关键动作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整机OEM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电气 / 系统 / 质量团队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采购 / 管理层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完整RFQ、NRE与共同验收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品牌 / 代工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品牌设计与制造方需区分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签约及付款主体需确认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明确设计权、质保与进口方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系统集成商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项目与电气负责人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项目采购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获得原厂授权与系统责任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分销 / 服务商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品牌或授权服务体系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商业采购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授权备件、库存与售后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最终运营方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设备 / 运营 / EHS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运营采购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通过OEM获取工况与替换数据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贸易国家清单：查询节点，而非统计排名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金额、数量、单位及2026同比尚未取得可核验证据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  |  S09–S10分类线索；贸易值待核验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3736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0"/>
                <a:gridCol w="4846320"/>
              </a:tblGrid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查询分组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拟核验国家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拟核验内容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制造与整机供应节点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中国 / 日本 / 德国 / 韩国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847950工业机器人与850760电池</a:t>
                      </a:r>
                    </a:p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逐国、逐编码、逐流向核验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应用与进口候选节点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美国 / 英国 / 丹麦 / 瑞士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报告国与伙伴国、进口/出口</a:t>
                      </a:r>
                    </a:p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实际金额、数量单位与净重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东南亚与转口节点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新加坡 / 越南 / 泰国 / 马来西亚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区分转口、当地集成与最终使用</a:t>
                      </a:r>
                    </a:p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不能直接把进口视为消费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统计纪律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UN Comtrade / WITS / 国家库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同HS版本；CIF/FOB与镜像分开</a:t>
                      </a:r>
                    </a:p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EU合计不重复加入成员国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行动计划的验收关口与责任分工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建议管理目标｜不是已发生事实或销售承诺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37360"/>
          <a:ext cx="1097279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834640"/>
                <a:gridCol w="3291840"/>
                <a:gridCol w="3749039"/>
              </a:tblGrid>
              <a:tr h="10401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阶段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责任团队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应交付材料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继续投入条件</a:t>
                      </a:r>
                    </a:p>
                  </a:txBody>
                  <a:tcPr marL="109728" marR="109728" marT="54864" marB="54864" anchor="ctr">
                    <a:solidFill>
                      <a:srgbClr val="123047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30天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海外市场 / 研发 / 质量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来源审计、需求记录、能力差距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客户设计权、真实工况与采购可达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90天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研发 / 供应链 / 销售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付费验证协议、样机与测试记录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脉冲、回充、热、结构、通信达标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180天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项目 / 生产 / 质量 / 销售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整机验收、采购条款、服务方案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23047"/>
                          </a:solidFill>
                          <a:latin typeface="Noto Sans CJK JP"/>
                        </a:defRPr>
                      </a:pPr>
                      <a:r>
                        <a:rPr>
                          <a:latin typeface="Microsoft YaHei"/>
                        </a:rPr>
                        <a:t>技术风险与项目贡献可接受</a:t>
                      </a:r>
                    </a:p>
                  </a:txBody>
                  <a:tcPr marL="109728" marR="109728" marT="54864" marB="54864" anchor="ctr">
                    <a:solidFill>
                      <a:srgbClr val="ED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来源附录 A｜可点击的固定版本资料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本次已读取；研发/技术文件不构成市场规模或销量证据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2"/>
              </a:rPr>
              <a:t>S01  Boston Dynamics Spot 电气接口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固定提交：04537ddafe06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78024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4"/>
              </a:rPr>
              <a:t>S02  Boston Dynamics Spot 电池状态协议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43784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固定提交：04537ddafe06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0128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5"/>
              </a:rPr>
              <a:t>S03  Unitree ROS2 平台支持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8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固定提交：668d1ec5a05d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42232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6"/>
              </a:rPr>
              <a:t>S04  Unitree BMS 状态消息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07992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固定提交：668d1ec5a05d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74336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7"/>
              </a:rPr>
              <a:t>S05  Physical Intelligence openpi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0096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固定提交：215abfb217db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123047"/>
                </a:solidFill>
                <a:latin typeface="Noto Sans CJK JP"/>
              </a:defRPr>
            </a:pPr>
            <a:r>
              <a:rPr>
                <a:latin typeface="Microsoft YaHei"/>
              </a:rPr>
              <a:t>来源附录 B｜可点击的固定版本资料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33271"/>
            <a:ext cx="109728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B97712"/>
                </a:solidFill>
                <a:latin typeface="Noto Sans CJK JP"/>
              </a:defRPr>
            </a:pPr>
            <a:r>
              <a:rPr>
                <a:latin typeface="Microsoft YaHei"/>
              </a:rPr>
              <a:t>本次已读取；研发/技术文件不构成市场规模或销量证据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515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BPI  |  2026-10-13 北京时间  |  战略审议版 · 定量待核验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09360"/>
            <a:ext cx="54864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>
                <a:latin typeface="Microsoft YaHe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2"/>
              </a:rPr>
              <a:t>S06  Google DeepMind Open X-Embodiment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固定提交：9eeb68b989ef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78024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4"/>
              </a:rPr>
              <a:t>S07  Universal Robots ROS2 Driver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43784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固定提交：7e031424bc7a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0128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5"/>
              </a:rPr>
              <a:t>S08  Husarion UGV 电池监测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8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一手技术/研发资料  |  读取：2026-10-13  |  固定提交：559e784b84c0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42232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6"/>
              </a:rPr>
              <a:t>S09  HS 商品分类数据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07992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二手开放数据  |  读取：2026-10-13  |  固定提交：b1be3f2531a8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74336"/>
            <a:ext cx="10789920" cy="40233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7F85"/>
                </a:solidFill>
                <a:latin typeface="Noto Sans CJK JP"/>
              </a:defRPr>
            </a:pPr>
            <a:r>
              <a:rPr>
                <a:latin typeface="Microsoft YaHei"/>
                <a:hlinkClick r:id="rId7"/>
              </a:rPr>
              <a:t>S10  HS 数据来源说明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0096"/>
            <a:ext cx="107899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16171"/>
                </a:solidFill>
                <a:latin typeface="Noto Sans CJK JP"/>
              </a:defRPr>
            </a:pPr>
            <a:r>
              <a:rPr>
                <a:latin typeface="Microsoft YaHei"/>
              </a:rPr>
              <a:t>二手开放数据  |  读取：2026-10-13  |  固定提交：b1be3f2531a8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2026海外具身机器人市场机会｜BPI管理层汇报</dc:title>
  <dc:subject>战略审议版：数据证据、产品、客户、贸易与行动计划</dc:subject>
  <dc:creator>BPI Overseas Market Research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